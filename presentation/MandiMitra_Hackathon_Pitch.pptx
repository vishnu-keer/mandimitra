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0331b45-fda0-f1d1-4240-5a2a15790e04}">
          <p14:sldIdLst>
            <p14:sldId id="256"/>
          </p14:sldIdLst>
        </p14:section>
        <p14:section name="Problem" id="{4d1dd6af-c1f7-4d42-fe17-7ef33443bcf3}">
          <p14:sldIdLst>
            <p14:sldId id="257"/>
            <p14:sldId id="258"/>
          </p14:sldIdLst>
        </p14:section>
        <p14:section name="Solution" id="{a3bbe9c8-eddf-94be-152e-bf45678d9943}">
          <p14:sldIdLst>
            <p14:sldId id="259"/>
            <p14:sldId id="260"/>
          </p14:sldIdLst>
        </p14:section>
        <p14:section name="How it works" id="{3aefd6e0-69b0-5182-6a4a-cf7d32672482}">
          <p14:sldIdLst>
            <p14:sldId id="261"/>
            <p14:sldId id="262"/>
          </p14:sldIdLst>
        </p14:section>
        <p14:section name="Results" id="{c4899184-9165-6f7e-7e95-9d6cf7800951}">
          <p14:sldIdLst>
            <p14:sldId id="263"/>
            <p14:sldId id="264"/>
          </p14:sldIdLst>
        </p14:section>
        <p14:section name="Feasibility" id="{6cd0a71c-20cd-b614-cd49-3026098edfc2}">
          <p14:sldIdLst>
            <p14:sldId id="265"/>
            <p14:sldId id="266"/>
          </p14:sldIdLst>
        </p14:section>
        <p14:section name="Close" id="{7d5c9031-537f-83d4-3877-2a31a9893895}">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430"/>
                </a:solidFill>
                <a:latin typeface="+mn-lt"/>
              </a:defRPr>
            </a:pPr>
            <a:r>
              <a:rPr sz="1400" b="0" i="0" u="none" strike="noStrike">
                <a:solidFill>
                  <a:srgbClr val="1D2430"/>
                </a:solidFill>
                <a:latin typeface="+mn-lt"/>
              </a:rPr>
              <a:t>Test RMSE, Rs. per quintal (lower is better)</a:t>
            </a:r>
          </a:p>
        </c:rich>
      </c:tx>
      <c:layout/>
      <c:overlay val="0"/>
    </c:title>
    <c:autoTitleDeleted val="0"/>
    <c:plotArea>
      <c:layout/>
      <c:barChart>
        <c:barDir val="col"/>
        <c:grouping val="clustered"/>
        <c:varyColors val="0"/>
        <c:ser>
          <c:idx val="0"/>
          <c:order val="0"/>
          <c:tx>
            <c:strRef>
              <c:f>Sheet1!$B$1</c:f>
              <c:strCache>
                <c:ptCount val="1"/>
                <c:pt idx="0">
                  <c:v>Model chosen by CV</c:v>
                </c:pt>
              </c:strCache>
            </c:strRef>
          </c:tx>
          <c:spPr>
            <a:solidFill>
              <a:srgbClr val="1F6F4A"/>
            </a:solidFill>
            <a:effectLst/>
          </c:spPr>
          <c:invertIfNegative val="0"/>
          <c:dLbls>
            <c:numFmt formatCode="0" sourceLinked="0"/>
            <c:txPr>
              <a:bodyPr/>
              <a:lstStyle/>
              <a:p>
                <a:pPr>
                  <a:defRPr b="0" i="0" strike="noStrike" sz="1000" u="none">
                    <a:solidFill>
                      <a:srgbClr val="1D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Onion 1d</c:v>
                  </c:pt>
                  <c:pt idx="1">
                    <c:v>Onion 2d</c:v>
                  </c:pt>
                  <c:pt idx="2">
                    <c:v>Onion 3d</c:v>
                  </c:pt>
                  <c:pt idx="3">
                    <c:v>Tomato 1d</c:v>
                  </c:pt>
                  <c:pt idx="4">
                    <c:v>Tomato 2d</c:v>
                  </c:pt>
                  <c:pt idx="5">
                    <c:v>Tomato 3d</c:v>
                  </c:pt>
                </c:lvl>
              </c:multiLvlStrCache>
            </c:multiLvlStrRef>
          </c:cat>
          <c:val>
            <c:numRef>
              <c:f>Sheet1!$B$2:$B$7</c:f>
              <c:numCache>
                <c:formatCode>General</c:formatCode>
                <c:ptCount val="6"/>
                <c:pt idx="0">
                  <c:v>94.27</c:v>
                </c:pt>
                <c:pt idx="1">
                  <c:v>110.29</c:v>
                </c:pt>
                <c:pt idx="2">
                  <c:v>127.93</c:v>
                </c:pt>
                <c:pt idx="3">
                  <c:v>127.33</c:v>
                </c:pt>
                <c:pt idx="4">
                  <c:v>179.1</c:v>
                </c:pt>
                <c:pt idx="5">
                  <c:v>227.38</c:v>
                </c:pt>
              </c:numCache>
            </c:numRef>
          </c:val>
        </c:ser>
        <c:ser>
          <c:idx val="1"/>
          <c:order val="1"/>
          <c:tx>
            <c:strRef>
              <c:f>Sheet1!$C$1</c:f>
              <c:strCache>
                <c:ptCount val="1"/>
                <c:pt idx="0">
                  <c:v>Naive (same as today)</c:v>
                </c:pt>
              </c:strCache>
            </c:strRef>
          </c:tx>
          <c:spPr>
            <a:solidFill>
              <a:srgbClr val="9AA3AD"/>
            </a:solidFill>
            <a:effectLst/>
          </c:spPr>
          <c:invertIfNegative val="0"/>
          <c:dLbls>
            <c:numFmt formatCode="0" sourceLinked="0"/>
            <c:txPr>
              <a:bodyPr/>
              <a:lstStyle/>
              <a:p>
                <a:pPr>
                  <a:defRPr b="0" i="0" strike="noStrike" sz="1000" u="none">
                    <a:solidFill>
                      <a:srgbClr val="1D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Onion 1d</c:v>
                  </c:pt>
                  <c:pt idx="1">
                    <c:v>Onion 2d</c:v>
                  </c:pt>
                  <c:pt idx="2">
                    <c:v>Onion 3d</c:v>
                  </c:pt>
                  <c:pt idx="3">
                    <c:v>Tomato 1d</c:v>
                  </c:pt>
                  <c:pt idx="4">
                    <c:v>Tomato 2d</c:v>
                  </c:pt>
                  <c:pt idx="5">
                    <c:v>Tomato 3d</c:v>
                  </c:pt>
                </c:lvl>
              </c:multiLvlStrCache>
            </c:multiLvlStrRef>
          </c:cat>
          <c:val>
            <c:numRef>
              <c:f>Sheet1!$C$2:$C$7</c:f>
              <c:numCache>
                <c:formatCode>General</c:formatCode>
                <c:ptCount val="6"/>
                <c:pt idx="0">
                  <c:v>94.27</c:v>
                </c:pt>
                <c:pt idx="1">
                  <c:v>110.29</c:v>
                </c:pt>
                <c:pt idx="2">
                  <c:v>127.93</c:v>
                </c:pt>
                <c:pt idx="3">
                  <c:v>120.51</c:v>
                </c:pt>
                <c:pt idx="4">
                  <c:v>178.16</c:v>
                </c:pt>
                <c:pt idx="5">
                  <c:v>226.68</c:v>
                </c:pt>
              </c:numCache>
            </c:numRef>
          </c:val>
        </c:ser>
        <c:dLbls>
          <c:numFmt formatCode="0" sourceLinked="0"/>
          <c:txPr>
            <a:bodyPr/>
            <a:lstStyle/>
            <a:p>
              <a:pPr>
                <a:defRPr b="0" i="0" strike="noStrike" sz="1000" u="none">
                  <a:solidFill>
                    <a:srgbClr val="1D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Vishnu. MandiMitra asks a question most price-prediction apps skip: does the AI actually beat the simplest forecast — tomorrow's price equals today's — when you test it honestly? Scan the left code for the live app, the right one for the code and data. Everything I show is reproducible from those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Mandi prices swing hard — Jaipur onion went from about six to nine hundred rupees a quintal in June 2013 to four and a half thousand in October. Apps now promise AI forecasts to farmers and traders. The people who would act on them can't check how they were tested. That's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series. Most days the quoted price doesn't change at all — eighty-five percent of reported onion days. Then it jumps. Research on Indian onion prices links that volatility to uncertainty in market arrivals, which isn't in the price history. So a price-only model has very little to work with — and that should be tested, not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MandiMitra is built around trust. The forecast always sits beside the simplest reference. Data freshness and stale quotes are on the first screen. If an uncertainty band didn't hold up on unseen data, we don't draw it — we tell you. And the plain-language views are in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if the network allows — otherwise these are the real screens. Price history marks the days the mandi didn't report. Model evaluation shows how the model was chosen before the test period. The forecast tab shows the date it was made and the dates it is for. Same app in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official files kept untouched and hashed; a real daily calendar so 'yesterday' means yesterday; features that only use what was known at the end of the day; the model is chosen on earlier years; the test period is scored once. A hundred and fifty-four tests and two gates stop the pipeline if any of that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most projects skip. The test period is locked away. Five candidates, from 'same as today' to tree models that predict the price change, are compared on four rolling folds of earlier data, and the rule for picking the winner was written before we saw the results. Then the test is scored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result. For onion, cross-validation chose 'same as today' at every horizon. For tomato it chose other models, and each was slightly worse on unseen data. Across forty-eight significance tests, none found a model better than Naive. Our own first version claimed a 7.33% win — it came from choosing the winner on the test data, and the gap has p = 0.505. That correction is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precise here: we have not tested this with farmers yet, so we make no impact claims. The plan is ready — a short, consented study at a Jaipur mandi, measuring whether people read the forecast and its warnings correctly. We'll publish what we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costs nothing to run. The data is government open data with attribution. The live-price client for the official AGMARKNET API is built and tested — it needs only a free access key. Adding a market means adding its official file; the data gate decides if it's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stated plainly: historical data, one mandi, prices only, back-testing only, and no user evidence yet. Each has a concrete next step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trusts a price prediction, it should beat the simplest reference on data it never saw. MandiMitra makes that check visible, reproducible and bilingual. We'd welcome mentors, an introduction to a mandi or FPO for a consented pilot, and feedback from traders.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M_DARK">
    <p:bg>
      <p:bgPr>
        <a:solidFill>
          <a:srgbClr val="1652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383280"/>
            <a:ext cx="7498080" cy="1828800"/>
          </a:xfrm>
          <a:prstGeom prst="rect">
            <a:avLst/>
          </a:prstGeom>
          <a:noFill/>
          <a:ln/>
        </p:spPr>
        <p:txBody>
          <a:bodyPr wrap="square" rtlCol="0"/>
          <a:lstStyle>
            <a:lvl1pPr algn="l" indent="0" marL="0">
              <a:buNone/>
              <a:defRPr lang="en-US" sz="2000" dirty="0">
                <a:solidFill>
                  <a:srgbClr val="D9E8DF"/>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M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73952"/>
            <a:ext cx="8229600" cy="274320"/>
          </a:xfrm>
          <a:prstGeom prst="rect">
            <a:avLst/>
          </a:prstGeom>
          <a:noFill/>
          <a:ln/>
        </p:spPr>
        <p:txBody>
          <a:bodyPr wrap="square" rtlCol="0" anchor="ctr"/>
          <a:lstStyle/>
          <a:p>
            <a:pPr indent="0" marL="0">
              <a:buNone/>
            </a:pPr>
            <a:r>
              <a:rPr lang="en-US" sz="1000" dirty="0">
                <a:solidFill>
                  <a:srgbClr val="5B6472"/>
                </a:solidFill>
              </a:rPr>
              <a:t>MandiMitra · historical data, ends 28 Apr 2015 · not financial or farming advice</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28016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MandiMitra</a:t>
            </a:r>
            <a:endParaRPr lang="en-US" sz="5400" dirty="0"/>
          </a:p>
        </p:txBody>
      </p:sp>
      <p:sp>
        <p:nvSpPr>
          <p:cNvPr id="3" name="Text 0"/>
          <p:cNvSpPr/>
          <p:nvPr>
            <p:ph idx="101" type="body" hasCustomPrompt="1"/>
          </p:nvPr>
        </p:nvSpPr>
        <p:spPr>
          <a:xfrm>
            <a:off x="548640" y="3383280"/>
            <a:ext cx="7498080" cy="1828800"/>
          </a:xfrm>
          <a:prstGeom prst="rect">
            <a:avLst/>
          </a:prstGeom>
          <a:noFill/>
          <a:ln/>
        </p:spPr>
        <p:txBody>
          <a:bodyPr wrap="square" rtlCol="0" anchor="t"/>
          <a:lstStyle/>
          <a:p>
            <a:pPr algn="l" indent="0" marL="0">
              <a:buNone/>
            </a:pPr>
            <a:r>
              <a:rPr lang="en-US" sz="2000" b="1" dirty="0">
                <a:solidFill>
                  <a:srgbClr val="D9E8DF"/>
                </a:solidFill>
              </a:rPr>
              <a:t>Explainable mandi price intelligence</a:t>
            </a:r>
            <a:endParaRPr lang="en-US" sz="2000" dirty="0"/>
          </a:p>
          <a:p>
            <a:pPr algn="l" indent="0" marL="0">
              <a:buNone/>
            </a:pPr>
            <a:r>
              <a:rPr lang="en-US" sz="2000" dirty="0">
                <a:solidFill>
                  <a:srgbClr val="D9E8DF"/>
                </a:solidFill>
              </a:rPr>
              <a:t>Does AI really beat “same as today” for wholesale onion and tomato prices? We tested it — properly.</a:t>
            </a:r>
            <a:endParaRPr lang="en-US" sz="2000" dirty="0"/>
          </a:p>
          <a:p>
            <a:pPr algn="l" indent="0" marL="0">
              <a:buNone/>
            </a:pPr>
            <a:r>
              <a:rPr lang="en-US" sz="1000" dirty="0">
                <a:solidFill>
                  <a:srgbClr val="D9E8DF"/>
                </a:solidFill>
              </a:rPr>
              <a:t> </a:t>
            </a:r>
            <a:endParaRPr lang="en-US" sz="2000" dirty="0"/>
          </a:p>
          <a:p>
            <a:pPr algn="l" indent="0" marL="0">
              <a:buNone/>
            </a:pPr>
            <a:r>
              <a:rPr lang="en-US" sz="1600" dirty="0">
                <a:solidFill>
                  <a:srgbClr val="D9E8DF"/>
                </a:solidFill>
              </a:rPr>
              <a:t>Vishnu Keer · Vivekananda Global University, Jaipur</a:t>
            </a:r>
            <a:endParaRPr lang="en-US" sz="2000" dirty="0"/>
          </a:p>
        </p:txBody>
      </p:sp>
      <p:sp>
        <p:nvSpPr>
          <p:cNvPr id="4" name="Shape 2"/>
          <p:cNvSpPr/>
          <p:nvPr/>
        </p:nvSpPr>
        <p:spPr>
          <a:xfrm>
            <a:off x="8823960" y="2148840"/>
            <a:ext cx="1463040" cy="1965960"/>
          </a:xfrm>
          <a:prstGeom prst="roundRect">
            <a:avLst>
              <a:gd name="adj" fmla="val 6250"/>
            </a:avLst>
          </a:prstGeom>
          <a:solidFill>
            <a:srgbClr val="FFFFFF"/>
          </a:solidFill>
          <a:ln w="12700">
            <a:solidFill>
              <a:srgbClr val="FFFFFF"/>
            </a:solidFill>
            <a:prstDash val="solid"/>
          </a:ln>
        </p:spPr>
      </p:sp>
      <p:pic>
        <p:nvPicPr>
          <p:cNvPr id="5" name="Image 0" descr="QR code: Live app">    </p:cNvPr>
          <p:cNvPicPr>
            <a:picLocks noChangeAspect="1"/>
          </p:cNvPicPr>
          <p:nvPr/>
        </p:nvPicPr>
        <p:blipFill>
          <a:blip r:embed="rId1"/>
          <a:stretch>
            <a:fillRect/>
          </a:stretch>
        </p:blipFill>
        <p:spPr>
          <a:xfrm>
            <a:off x="8915400" y="2240280"/>
            <a:ext cx="1280160" cy="1280160"/>
          </a:xfrm>
          <a:prstGeom prst="rect">
            <a:avLst/>
          </a:prstGeom>
        </p:spPr>
      </p:pic>
      <p:sp>
        <p:nvSpPr>
          <p:cNvPr id="6" name="Text 3"/>
          <p:cNvSpPr txBox="1"/>
          <p:nvPr/>
        </p:nvSpPr>
        <p:spPr>
          <a:xfrm>
            <a:off x="8823960" y="3566160"/>
            <a:ext cx="1463040" cy="411480"/>
          </a:xfrm>
          <a:prstGeom prst="rect">
            <a:avLst/>
          </a:prstGeom>
          <a:noFill/>
          <a:ln/>
        </p:spPr>
        <p:txBody>
          <a:bodyPr wrap="square" lIns="0" tIns="0" rIns="0" bIns="0" rtlCol="0" anchor="ctr"/>
          <a:lstStyle/>
          <a:p>
            <a:pPr algn="ctr" indent="0" marL="0">
              <a:buNone/>
            </a:pPr>
            <a:r>
              <a:rPr lang="en-US" sz="1300" b="1" dirty="0">
                <a:solidFill>
                  <a:schemeClr val="tx1"/>
                </a:solidFill>
              </a:rPr>
              <a:t>Live app</a:t>
            </a:r>
            <a:endParaRPr lang="en-US" sz="1300" dirty="0"/>
          </a:p>
        </p:txBody>
      </p:sp>
      <p:sp>
        <p:nvSpPr>
          <p:cNvPr id="7" name="Shape 4"/>
          <p:cNvSpPr/>
          <p:nvPr/>
        </p:nvSpPr>
        <p:spPr>
          <a:xfrm>
            <a:off x="10424160" y="2148840"/>
            <a:ext cx="1463040" cy="1965960"/>
          </a:xfrm>
          <a:prstGeom prst="roundRect">
            <a:avLst>
              <a:gd name="adj" fmla="val 6250"/>
            </a:avLst>
          </a:prstGeom>
          <a:solidFill>
            <a:srgbClr val="FFFFFF"/>
          </a:solidFill>
          <a:ln w="12700">
            <a:solidFill>
              <a:srgbClr val="FFFFFF"/>
            </a:solidFill>
            <a:prstDash val="solid"/>
          </a:ln>
        </p:spPr>
      </p:sp>
      <p:pic>
        <p:nvPicPr>
          <p:cNvPr id="8" name="Image 1" descr="QR code: Code + data">    </p:cNvPr>
          <p:cNvPicPr>
            <a:picLocks noChangeAspect="1"/>
          </p:cNvPicPr>
          <p:nvPr/>
        </p:nvPicPr>
        <p:blipFill>
          <a:blip r:embed="rId2"/>
          <a:stretch>
            <a:fillRect/>
          </a:stretch>
        </p:blipFill>
        <p:spPr>
          <a:xfrm>
            <a:off x="10515600" y="2240280"/>
            <a:ext cx="1280160" cy="1280160"/>
          </a:xfrm>
          <a:prstGeom prst="rect">
            <a:avLst/>
          </a:prstGeom>
        </p:spPr>
      </p:pic>
      <p:sp>
        <p:nvSpPr>
          <p:cNvPr id="9" name="Text 5"/>
          <p:cNvSpPr txBox="1"/>
          <p:nvPr/>
        </p:nvSpPr>
        <p:spPr>
          <a:xfrm>
            <a:off x="10424160" y="3566160"/>
            <a:ext cx="1463040" cy="411480"/>
          </a:xfrm>
          <a:prstGeom prst="rect">
            <a:avLst/>
          </a:prstGeom>
          <a:noFill/>
          <a:ln/>
        </p:spPr>
        <p:txBody>
          <a:bodyPr wrap="square" lIns="0" tIns="0" rIns="0" bIns="0" rtlCol="0" anchor="ctr"/>
          <a:lstStyle/>
          <a:p>
            <a:pPr algn="ctr" indent="0" marL="0">
              <a:buNone/>
            </a:pPr>
            <a:r>
              <a:rPr lang="en-US" sz="1300" b="1" dirty="0">
                <a:solidFill>
                  <a:schemeClr val="tx1"/>
                </a:solidFill>
              </a:rPr>
              <a:t>Code + data</a:t>
            </a:r>
            <a:endParaRPr lang="en-US" sz="1300" dirty="0"/>
          </a:p>
        </p:txBody>
      </p:sp>
      <p:sp>
        <p:nvSpPr>
          <p:cNvPr id="10" name="Text 6"/>
          <p:cNvSpPr txBox="1"/>
          <p:nvPr/>
        </p:nvSpPr>
        <p:spPr>
          <a:xfrm>
            <a:off x="8778240" y="4251960"/>
            <a:ext cx="3200400" cy="548640"/>
          </a:xfrm>
          <a:prstGeom prst="rect">
            <a:avLst/>
          </a:prstGeom>
          <a:noFill/>
          <a:ln/>
        </p:spPr>
        <p:txBody>
          <a:bodyPr wrap="square" rtlCol="0" anchor="ctr"/>
          <a:lstStyle/>
          <a:p>
            <a:pPr indent="0" marL="0">
              <a:buNone/>
            </a:pPr>
            <a:r>
              <a:rPr lang="en-US" sz="1100" dirty="0">
                <a:solidFill>
                  <a:srgbClr val="D9E8DF"/>
                </a:solidFill>
              </a:rPr>
              <a:t>mandimitra.streamlit.app  ·  github.com/vishnu-keer/mandimitra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Price-prediction claims reach farmers unchecked</a:t>
            </a:r>
            <a:endParaRPr lang="en-US" sz="3000" dirty="0"/>
          </a:p>
        </p:txBody>
      </p:sp>
      <p:sp>
        <p:nvSpPr>
          <p:cNvPr id="3" name="Shape 1"/>
          <p:cNvSpPr/>
          <p:nvPr/>
        </p:nvSpPr>
        <p:spPr>
          <a:xfrm>
            <a:off x="548640" y="1417320"/>
            <a:ext cx="3657600" cy="4206240"/>
          </a:xfrm>
          <a:prstGeom prst="roundRect">
            <a:avLst>
              <a:gd name="adj" fmla="val 3000"/>
            </a:avLst>
          </a:prstGeom>
          <a:solidFill>
            <a:srgbClr val="F1F5F2"/>
          </a:solidFill>
          <a:ln w="9525">
            <a:solidFill>
              <a:srgbClr val="DDE5E0"/>
            </a:solidFill>
            <a:prstDash val="solid"/>
          </a:ln>
        </p:spPr>
      </p:sp>
      <p:sp>
        <p:nvSpPr>
          <p:cNvPr id="4" name="Text 2"/>
          <p:cNvSpPr txBox="1"/>
          <p:nvPr/>
        </p:nvSpPr>
        <p:spPr>
          <a:xfrm>
            <a:off x="822960" y="1600200"/>
            <a:ext cx="3200400" cy="13716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Rs. 600</a:t>
            </a:r>
            <a:endParaRPr lang="en-US" sz="3600" dirty="0"/>
          </a:p>
          <a:p>
            <a:pPr indent="0" marL="0">
              <a:buNone/>
            </a:pPr>
            <a:r>
              <a:rPr lang="en-US" sz="3600" b="1" dirty="0">
                <a:solidFill>
                  <a:schemeClr val="accent1"/>
                </a:solidFill>
                <a:latin typeface="Cambria" pitchFamily="34" charset="0"/>
                <a:ea typeface="Cambria" pitchFamily="34" charset="-122"/>
                <a:cs typeface="Cambria" pitchFamily="34" charset="-120"/>
              </a:rPr>
              <a:t>→ Rs. 4,500</a:t>
            </a:r>
            <a:endParaRPr lang="en-US" sz="3600" dirty="0"/>
          </a:p>
        </p:txBody>
      </p:sp>
      <p:sp>
        <p:nvSpPr>
          <p:cNvPr id="5" name="Text 3"/>
          <p:cNvSpPr txBox="1"/>
          <p:nvPr/>
        </p:nvSpPr>
        <p:spPr>
          <a:xfrm>
            <a:off x="822960" y="3017520"/>
            <a:ext cx="3200400" cy="1097280"/>
          </a:xfrm>
          <a:prstGeom prst="rect">
            <a:avLst/>
          </a:prstGeom>
          <a:noFill/>
          <a:ln/>
        </p:spPr>
        <p:txBody>
          <a:bodyPr wrap="square" lIns="0" tIns="0" rIns="0" bIns="0" rtlCol="0" anchor="t"/>
          <a:lstStyle/>
          <a:p>
            <a:pPr indent="0" marL="0">
              <a:buNone/>
            </a:pPr>
            <a:r>
              <a:rPr lang="en-US" sz="1500" dirty="0">
                <a:solidFill>
                  <a:schemeClr val="tx1"/>
                </a:solidFill>
              </a:rPr>
              <a:t>per quintal: Jaipur wholesale onion, June → 21 October 2013, then back to about Rs. 800 by December</a:t>
            </a:r>
            <a:endParaRPr lang="en-US" sz="1500" dirty="0"/>
          </a:p>
        </p:txBody>
      </p:sp>
      <p:sp>
        <p:nvSpPr>
          <p:cNvPr id="6" name="Text 4"/>
          <p:cNvSpPr txBox="1"/>
          <p:nvPr/>
        </p:nvSpPr>
        <p:spPr>
          <a:xfrm>
            <a:off x="822960" y="4206240"/>
            <a:ext cx="3200400" cy="457200"/>
          </a:xfrm>
          <a:prstGeom prst="rect">
            <a:avLst/>
          </a:prstGeom>
          <a:noFill/>
          <a:ln/>
        </p:spPr>
        <p:txBody>
          <a:bodyPr wrap="square" rtlCol="0" anchor="ctr"/>
          <a:lstStyle/>
          <a:p>
            <a:pPr indent="0" marL="0">
              <a:buNone/>
            </a:pPr>
            <a:r>
              <a:rPr lang="en-US" sz="1200" i="1" dirty="0">
                <a:solidFill>
                  <a:srgbClr val="5B6472"/>
                </a:solidFill>
              </a:rPr>
              <a:t>Official Department of Consumer Affairs series</a:t>
            </a:r>
            <a:endParaRPr lang="en-US" sz="1200" dirty="0"/>
          </a:p>
        </p:txBody>
      </p:sp>
      <p:sp>
        <p:nvSpPr>
          <p:cNvPr id="7" name="Shape 5"/>
          <p:cNvSpPr/>
          <p:nvPr/>
        </p:nvSpPr>
        <p:spPr>
          <a:xfrm>
            <a:off x="4754880" y="1554480"/>
            <a:ext cx="640080" cy="640080"/>
          </a:xfrm>
          <a:prstGeom prst="ellipse">
            <a:avLst/>
          </a:prstGeom>
          <a:solidFill>
            <a:srgbClr val="1F6F4A"/>
          </a:solidFill>
          <a:ln/>
        </p:spPr>
      </p:sp>
      <p:sp>
        <p:nvSpPr>
          <p:cNvPr id="8" name="Text 6"/>
          <p:cNvSpPr txBox="1"/>
          <p:nvPr/>
        </p:nvSpPr>
        <p:spPr>
          <a:xfrm>
            <a:off x="4754880"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7"/>
          <p:cNvSpPr txBox="1"/>
          <p:nvPr/>
        </p:nvSpPr>
        <p:spPr>
          <a:xfrm>
            <a:off x="5623560" y="1417320"/>
            <a:ext cx="5943600" cy="457200"/>
          </a:xfrm>
          <a:prstGeom prst="rect">
            <a:avLst/>
          </a:prstGeom>
          <a:noFill/>
          <a:ln/>
        </p:spPr>
        <p:txBody>
          <a:bodyPr wrap="square" lIns="0" tIns="0" rIns="0" bIns="0" rtlCol="0" anchor="ctr"/>
          <a:lstStyle/>
          <a:p>
            <a:pPr indent="0" marL="0">
              <a:buNone/>
            </a:pPr>
            <a:r>
              <a:rPr lang="en-US" sz="2000" b="1" dirty="0">
                <a:solidFill>
                  <a:schemeClr val="tx1"/>
                </a:solidFill>
              </a:rPr>
              <a:t>Farmers</a:t>
            </a:r>
            <a:endParaRPr lang="en-US" sz="2000" dirty="0"/>
          </a:p>
        </p:txBody>
      </p:sp>
      <p:sp>
        <p:nvSpPr>
          <p:cNvPr id="10" name="Text 8"/>
          <p:cNvSpPr txBox="1"/>
          <p:nvPr/>
        </p:nvSpPr>
        <p:spPr>
          <a:xfrm>
            <a:off x="5623560" y="1874520"/>
            <a:ext cx="5943600" cy="731520"/>
          </a:xfrm>
          <a:prstGeom prst="rect">
            <a:avLst/>
          </a:prstGeom>
          <a:noFill/>
          <a:ln/>
        </p:spPr>
        <p:txBody>
          <a:bodyPr wrap="square" lIns="0" tIns="0" rIns="0" bIns="0" rtlCol="0" anchor="t"/>
          <a:lstStyle/>
          <a:p>
            <a:pPr indent="0" marL="0">
              <a:buNone/>
            </a:pPr>
            <a:r>
              <a:rPr lang="en-US" sz="1600" dirty="0">
                <a:solidFill>
                  <a:schemeClr val="tx1"/>
                </a:solidFill>
              </a:rPr>
              <a:t>Sell today or hold? A confident wrong forecast costs real money.</a:t>
            </a:r>
            <a:endParaRPr lang="en-US" sz="1600" dirty="0"/>
          </a:p>
        </p:txBody>
      </p:sp>
      <p:sp>
        <p:nvSpPr>
          <p:cNvPr id="11" name="Shape 9"/>
          <p:cNvSpPr/>
          <p:nvPr/>
        </p:nvSpPr>
        <p:spPr>
          <a:xfrm>
            <a:off x="4754880" y="3017520"/>
            <a:ext cx="640080" cy="640080"/>
          </a:xfrm>
          <a:prstGeom prst="ellipse">
            <a:avLst/>
          </a:prstGeom>
          <a:solidFill>
            <a:srgbClr val="1F6F4A"/>
          </a:solidFill>
          <a:ln/>
        </p:spPr>
      </p:sp>
      <p:sp>
        <p:nvSpPr>
          <p:cNvPr id="12" name="Text 10"/>
          <p:cNvSpPr txBox="1"/>
          <p:nvPr/>
        </p:nvSpPr>
        <p:spPr>
          <a:xfrm>
            <a:off x="4754880" y="301752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5623560" y="2880360"/>
            <a:ext cx="5943600" cy="457200"/>
          </a:xfrm>
          <a:prstGeom prst="rect">
            <a:avLst/>
          </a:prstGeom>
          <a:noFill/>
          <a:ln/>
        </p:spPr>
        <p:txBody>
          <a:bodyPr wrap="square" lIns="0" tIns="0" rIns="0" bIns="0" rtlCol="0" anchor="ctr"/>
          <a:lstStyle/>
          <a:p>
            <a:pPr indent="0" marL="0">
              <a:buNone/>
            </a:pPr>
            <a:r>
              <a:rPr lang="en-US" sz="2000" b="1" dirty="0">
                <a:solidFill>
                  <a:schemeClr val="tx1"/>
                </a:solidFill>
              </a:rPr>
              <a:t>Traders</a:t>
            </a:r>
            <a:endParaRPr lang="en-US" sz="2000" dirty="0"/>
          </a:p>
        </p:txBody>
      </p:sp>
      <p:sp>
        <p:nvSpPr>
          <p:cNvPr id="14" name="Text 12"/>
          <p:cNvSpPr txBox="1"/>
          <p:nvPr/>
        </p:nvSpPr>
        <p:spPr>
          <a:xfrm>
            <a:off x="5623560" y="3337560"/>
            <a:ext cx="5943600" cy="731520"/>
          </a:xfrm>
          <a:prstGeom prst="rect">
            <a:avLst/>
          </a:prstGeom>
          <a:noFill/>
          <a:ln/>
        </p:spPr>
        <p:txBody>
          <a:bodyPr wrap="square" lIns="0" tIns="0" rIns="0" bIns="0" rtlCol="0" anchor="t"/>
          <a:lstStyle/>
          <a:p>
            <a:pPr indent="0" marL="0">
              <a:buNone/>
            </a:pPr>
            <a:r>
              <a:rPr lang="en-US" sz="1600" dirty="0">
                <a:solidFill>
                  <a:schemeClr val="tx1"/>
                </a:solidFill>
              </a:rPr>
              <a:t>How noisy is this market, and how stale is the quoted price?</a:t>
            </a:r>
            <a:endParaRPr lang="en-US" sz="1600" dirty="0"/>
          </a:p>
        </p:txBody>
      </p:sp>
      <p:sp>
        <p:nvSpPr>
          <p:cNvPr id="15" name="Shape 13"/>
          <p:cNvSpPr/>
          <p:nvPr/>
        </p:nvSpPr>
        <p:spPr>
          <a:xfrm>
            <a:off x="4754880" y="4480560"/>
            <a:ext cx="640080" cy="640080"/>
          </a:xfrm>
          <a:prstGeom prst="ellipse">
            <a:avLst/>
          </a:prstGeom>
          <a:solidFill>
            <a:srgbClr val="1F6F4A"/>
          </a:solidFill>
          <a:ln/>
        </p:spPr>
      </p:sp>
      <p:sp>
        <p:nvSpPr>
          <p:cNvPr id="16" name="Text 14"/>
          <p:cNvSpPr txBox="1"/>
          <p:nvPr/>
        </p:nvSpPr>
        <p:spPr>
          <a:xfrm>
            <a:off x="4754880" y="44805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5"/>
          <p:cNvSpPr txBox="1"/>
          <p:nvPr/>
        </p:nvSpPr>
        <p:spPr>
          <a:xfrm>
            <a:off x="5623560" y="4343400"/>
            <a:ext cx="5943600" cy="457200"/>
          </a:xfrm>
          <a:prstGeom prst="rect">
            <a:avLst/>
          </a:prstGeom>
          <a:noFill/>
          <a:ln/>
        </p:spPr>
        <p:txBody>
          <a:bodyPr wrap="square" lIns="0" tIns="0" rIns="0" bIns="0" rtlCol="0" anchor="ctr"/>
          <a:lstStyle/>
          <a:p>
            <a:pPr indent="0" marL="0">
              <a:buNone/>
            </a:pPr>
            <a:r>
              <a:rPr lang="en-US" sz="2000" b="1" dirty="0">
                <a:solidFill>
                  <a:schemeClr val="tx1"/>
                </a:solidFill>
              </a:rPr>
              <a:t>Students &amp; analysts</a:t>
            </a:r>
            <a:endParaRPr lang="en-US" sz="2000" dirty="0"/>
          </a:p>
        </p:txBody>
      </p:sp>
      <p:sp>
        <p:nvSpPr>
          <p:cNvPr id="18" name="Text 16"/>
          <p:cNvSpPr txBox="1"/>
          <p:nvPr/>
        </p:nvSpPr>
        <p:spPr>
          <a:xfrm>
            <a:off x="5623560" y="4800600"/>
            <a:ext cx="5943600" cy="731520"/>
          </a:xfrm>
          <a:prstGeom prst="rect">
            <a:avLst/>
          </a:prstGeom>
          <a:noFill/>
          <a:ln/>
        </p:spPr>
        <p:txBody>
          <a:bodyPr wrap="square" lIns="0" tIns="0" rIns="0" bIns="0" rtlCol="0" anchor="t"/>
          <a:lstStyle/>
          <a:p>
            <a:pPr indent="0" marL="0">
              <a:buNone/>
            </a:pPr>
            <a:r>
              <a:rPr lang="en-US" sz="1600" dirty="0">
                <a:solidFill>
                  <a:schemeClr val="tx1"/>
                </a:solidFill>
              </a:rPr>
              <a:t>Was this model tested in a way that could have shown it fails?</a:t>
            </a:r>
            <a:endParaRPr lang="en-US" sz="16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Prices move in rare jumps that price history alone cannot see</a:t>
            </a:r>
            <a:endParaRPr lang="en-US" sz="3000" dirty="0"/>
          </a:p>
        </p:txBody>
      </p:sp>
      <p:pic>
        <p:nvPicPr>
          <p:cNvPr id="3" name="Image 0" descr="Reported daily wholesale prices of onion and tomato in Jaipur, 2009 to 2015">    </p:cNvPr>
          <p:cNvPicPr>
            <a:picLocks noChangeAspect="1"/>
          </p:cNvPicPr>
          <p:nvPr/>
        </p:nvPicPr>
        <p:blipFill>
          <a:blip r:embed="rId1"/>
          <a:stretch>
            <a:fillRect/>
          </a:stretch>
        </p:blipFill>
        <p:spPr>
          <a:xfrm>
            <a:off x="548640" y="1325880"/>
            <a:ext cx="6949440" cy="4014216"/>
          </a:xfrm>
          <a:prstGeom prst="rect">
            <a:avLst/>
          </a:prstGeom>
        </p:spPr>
      </p:pic>
      <p:sp>
        <p:nvSpPr>
          <p:cNvPr id="4" name="Shape 1"/>
          <p:cNvSpPr/>
          <p:nvPr/>
        </p:nvSpPr>
        <p:spPr>
          <a:xfrm>
            <a:off x="7863840" y="1325880"/>
            <a:ext cx="3776472" cy="4206240"/>
          </a:xfrm>
          <a:prstGeom prst="roundRect">
            <a:avLst>
              <a:gd name="adj" fmla="val 2906"/>
            </a:avLst>
          </a:prstGeom>
          <a:solidFill>
            <a:srgbClr val="F1F5F2"/>
          </a:solidFill>
          <a:ln w="9525">
            <a:solidFill>
              <a:srgbClr val="DDE5E0"/>
            </a:solidFill>
            <a:prstDash val="solid"/>
          </a:ln>
        </p:spPr>
      </p:sp>
      <p:sp>
        <p:nvSpPr>
          <p:cNvPr id="5" name="Text 2"/>
          <p:cNvSpPr txBox="1"/>
          <p:nvPr/>
        </p:nvSpPr>
        <p:spPr>
          <a:xfrm>
            <a:off x="8092440" y="1508760"/>
            <a:ext cx="338328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84.8%</a:t>
            </a:r>
            <a:endParaRPr lang="en-US" sz="4000" dirty="0"/>
          </a:p>
        </p:txBody>
      </p:sp>
      <p:sp>
        <p:nvSpPr>
          <p:cNvPr id="6" name="Text 3"/>
          <p:cNvSpPr txBox="1"/>
          <p:nvPr/>
        </p:nvSpPr>
        <p:spPr>
          <a:xfrm>
            <a:off x="8092440" y="2377440"/>
            <a:ext cx="3383280" cy="685800"/>
          </a:xfrm>
          <a:prstGeom prst="rect">
            <a:avLst/>
          </a:prstGeom>
          <a:noFill/>
          <a:ln/>
        </p:spPr>
        <p:txBody>
          <a:bodyPr wrap="square" lIns="0" tIns="0" rIns="0" bIns="0" rtlCol="0" anchor="t"/>
          <a:lstStyle/>
          <a:p>
            <a:pPr indent="0" marL="0">
              <a:buNone/>
            </a:pPr>
            <a:r>
              <a:rPr lang="en-US" sz="1400" dirty="0">
                <a:solidFill>
                  <a:schemeClr val="tx1"/>
                </a:solidFill>
              </a:rPr>
              <a:t>of reported Onion/Jaipur days quote exactly the previous price (Tomato: 82.8%)</a:t>
            </a:r>
            <a:endParaRPr lang="en-US" sz="1400" dirty="0"/>
          </a:p>
        </p:txBody>
      </p:sp>
      <p:sp>
        <p:nvSpPr>
          <p:cNvPr id="7" name="Text 4"/>
          <p:cNvSpPr txBox="1"/>
          <p:nvPr/>
        </p:nvSpPr>
        <p:spPr>
          <a:xfrm>
            <a:off x="8092440" y="3246120"/>
            <a:ext cx="3383280" cy="868680"/>
          </a:xfrm>
          <a:prstGeom prst="rect">
            <a:avLst/>
          </a:prstGeom>
          <a:noFill/>
          <a:ln/>
        </p:spPr>
        <p:txBody>
          <a:bodyPr wrap="square" lIns="0" tIns="0" rIns="0" bIns="0" rtlCol="0" anchor="ctr"/>
          <a:lstStyle/>
          <a:p>
            <a:pPr indent="0" marL="0">
              <a:buNone/>
            </a:pPr>
            <a:r>
              <a:rPr lang="en-US" sz="4000" b="1" dirty="0">
                <a:solidFill>
                  <a:srgbClr val="C27C2C"/>
                </a:solidFill>
                <a:latin typeface="Cambria" pitchFamily="34" charset="0"/>
                <a:ea typeface="Cambria" pitchFamily="34" charset="-122"/>
                <a:cs typeface="Cambria" pitchFamily="34" charset="-120"/>
              </a:rPr>
              <a:t>~55%</a:t>
            </a:r>
            <a:endParaRPr lang="en-US" sz="4000" dirty="0"/>
          </a:p>
        </p:txBody>
      </p:sp>
      <p:sp>
        <p:nvSpPr>
          <p:cNvPr id="8" name="Text 5"/>
          <p:cNvSpPr txBox="1"/>
          <p:nvPr/>
        </p:nvSpPr>
        <p:spPr>
          <a:xfrm>
            <a:off x="8092440" y="4114800"/>
            <a:ext cx="3383280" cy="685800"/>
          </a:xfrm>
          <a:prstGeom prst="rect">
            <a:avLst/>
          </a:prstGeom>
          <a:noFill/>
          <a:ln/>
        </p:spPr>
        <p:txBody>
          <a:bodyPr wrap="square" lIns="0" tIns="0" rIns="0" bIns="0" rtlCol="0" anchor="t"/>
          <a:lstStyle/>
          <a:p>
            <a:pPr indent="0" marL="0">
              <a:buNone/>
            </a:pPr>
            <a:r>
              <a:rPr lang="en-US" sz="1400" dirty="0">
                <a:solidFill>
                  <a:schemeClr val="tx1"/>
                </a:solidFill>
              </a:rPr>
              <a:t>of calendar days have a reported price at all (2009–2015)</a:t>
            </a:r>
            <a:endParaRPr lang="en-US" sz="1400" dirty="0"/>
          </a:p>
        </p:txBody>
      </p:sp>
      <p:sp>
        <p:nvSpPr>
          <p:cNvPr id="9" name="Text 6"/>
          <p:cNvSpPr txBox="1"/>
          <p:nvPr/>
        </p:nvSpPr>
        <p:spPr>
          <a:xfrm>
            <a:off x="548640" y="6126480"/>
            <a:ext cx="11091672" cy="274320"/>
          </a:xfrm>
          <a:prstGeom prst="rect">
            <a:avLst/>
          </a:prstGeom>
          <a:noFill/>
          <a:ln/>
        </p:spPr>
        <p:txBody>
          <a:bodyPr wrap="square" lIns="0" tIns="0" rIns="0" bIns="0" rtlCol="0" anchor="ctr"/>
          <a:lstStyle/>
          <a:p>
            <a:pPr indent="0" marL="0">
              <a:buNone/>
            </a:pPr>
            <a:r>
              <a:rPr lang="en-US" sz="1000" i="1" dirty="0">
                <a:solidFill>
                  <a:srgbClr val="5B6472"/>
                </a:solidFill>
              </a:rPr>
              <a:t>Data: Dept. of Consumer Affairs via data.gov.in (GODL-India). Related evidence: onion price volatility is linked to market-arrivals uncertainty (Birthal, Negi &amp; Joshi, 2019, JADEE 9(3)).</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An honest dashboard, not a model leaderboard</a:t>
            </a:r>
            <a:endParaRPr lang="en-US" sz="3000" dirty="0"/>
          </a:p>
        </p:txBody>
      </p:sp>
      <p:pic>
        <p:nvPicPr>
          <p:cNvPr id="3" name="Image 0" descr="MandiMitra overview screen">    </p:cNvPr>
          <p:cNvPicPr>
            <a:picLocks noChangeAspect="1"/>
          </p:cNvPicPr>
          <p:nvPr/>
        </p:nvPicPr>
        <p:blipFill>
          <a:blip r:embed="rId1"/>
          <a:stretch>
            <a:fillRect/>
          </a:stretch>
        </p:blipFill>
        <p:spPr>
          <a:xfrm>
            <a:off x="548640" y="1325880"/>
            <a:ext cx="6035040" cy="4480560"/>
          </a:xfrm>
          <a:prstGeom prst="rect">
            <a:avLst/>
          </a:prstGeom>
        </p:spPr>
      </p:pic>
      <p:sp>
        <p:nvSpPr>
          <p:cNvPr id="4" name="Shape 1"/>
          <p:cNvSpPr/>
          <p:nvPr/>
        </p:nvSpPr>
        <p:spPr>
          <a:xfrm>
            <a:off x="6903720" y="1325880"/>
            <a:ext cx="4736592" cy="987552"/>
          </a:xfrm>
          <a:prstGeom prst="roundRect">
            <a:avLst>
              <a:gd name="adj" fmla="val 11111"/>
            </a:avLst>
          </a:prstGeom>
          <a:solidFill>
            <a:srgbClr val="F1F5F2"/>
          </a:solidFill>
          <a:ln w="9525">
            <a:solidFill>
              <a:srgbClr val="DDE5E0"/>
            </a:solidFill>
            <a:prstDash val="solid"/>
          </a:ln>
        </p:spPr>
      </p:sp>
      <p:sp>
        <p:nvSpPr>
          <p:cNvPr id="5" name="Text 2"/>
          <p:cNvSpPr txBox="1"/>
          <p:nvPr/>
        </p:nvSpPr>
        <p:spPr>
          <a:xfrm>
            <a:off x="7086600" y="1399032"/>
            <a:ext cx="4389120" cy="365760"/>
          </a:xfrm>
          <a:prstGeom prst="rect">
            <a:avLst/>
          </a:prstGeom>
          <a:noFill/>
          <a:ln/>
        </p:spPr>
        <p:txBody>
          <a:bodyPr wrap="square" lIns="0" tIns="0" rIns="0" bIns="0" rtlCol="0" anchor="ctr"/>
          <a:lstStyle/>
          <a:p>
            <a:pPr indent="0" marL="0">
              <a:buNone/>
            </a:pPr>
            <a:r>
              <a:rPr lang="en-US" sz="1700" b="1" dirty="0">
                <a:solidFill>
                  <a:schemeClr val="accent1"/>
                </a:solidFill>
              </a:rPr>
              <a:t>Strong reference first</a:t>
            </a:r>
            <a:endParaRPr lang="en-US" sz="1700" dirty="0"/>
          </a:p>
        </p:txBody>
      </p:sp>
      <p:sp>
        <p:nvSpPr>
          <p:cNvPr id="6" name="Text 3"/>
          <p:cNvSpPr txBox="1"/>
          <p:nvPr/>
        </p:nvSpPr>
        <p:spPr>
          <a:xfrm>
            <a:off x="7086600" y="1755648"/>
            <a:ext cx="4389120" cy="502920"/>
          </a:xfrm>
          <a:prstGeom prst="rect">
            <a:avLst/>
          </a:prstGeom>
          <a:noFill/>
          <a:ln/>
        </p:spPr>
        <p:txBody>
          <a:bodyPr wrap="square" lIns="0" tIns="0" rIns="0" bIns="0" rtlCol="0" anchor="t"/>
          <a:lstStyle/>
          <a:p>
            <a:pPr indent="0" marL="0">
              <a:buNone/>
            </a:pPr>
            <a:r>
              <a:rPr lang="en-US" sz="1400" dirty="0">
                <a:solidFill>
                  <a:schemeClr val="tx1"/>
                </a:solidFill>
              </a:rPr>
              <a:t>Every forecast is shown next to “same as today” and the last reported price.</a:t>
            </a:r>
            <a:endParaRPr lang="en-US" sz="1400" dirty="0"/>
          </a:p>
        </p:txBody>
      </p:sp>
      <p:sp>
        <p:nvSpPr>
          <p:cNvPr id="7" name="Shape 4"/>
          <p:cNvSpPr/>
          <p:nvPr/>
        </p:nvSpPr>
        <p:spPr>
          <a:xfrm>
            <a:off x="6903720" y="2441448"/>
            <a:ext cx="4736592" cy="987552"/>
          </a:xfrm>
          <a:prstGeom prst="roundRect">
            <a:avLst>
              <a:gd name="adj" fmla="val 11111"/>
            </a:avLst>
          </a:prstGeom>
          <a:solidFill>
            <a:srgbClr val="F1F5F2"/>
          </a:solidFill>
          <a:ln w="9525">
            <a:solidFill>
              <a:srgbClr val="DDE5E0"/>
            </a:solidFill>
            <a:prstDash val="solid"/>
          </a:ln>
        </p:spPr>
      </p:sp>
      <p:sp>
        <p:nvSpPr>
          <p:cNvPr id="8" name="Text 5"/>
          <p:cNvSpPr txBox="1"/>
          <p:nvPr/>
        </p:nvSpPr>
        <p:spPr>
          <a:xfrm>
            <a:off x="7086600" y="2514600"/>
            <a:ext cx="4389120" cy="365760"/>
          </a:xfrm>
          <a:prstGeom prst="rect">
            <a:avLst/>
          </a:prstGeom>
          <a:noFill/>
          <a:ln/>
        </p:spPr>
        <p:txBody>
          <a:bodyPr wrap="square" lIns="0" tIns="0" rIns="0" bIns="0" rtlCol="0" anchor="ctr"/>
          <a:lstStyle/>
          <a:p>
            <a:pPr indent="0" marL="0">
              <a:buNone/>
            </a:pPr>
            <a:r>
              <a:rPr lang="en-US" sz="1700" b="1" dirty="0">
                <a:solidFill>
                  <a:schemeClr val="accent1"/>
                </a:solidFill>
              </a:rPr>
              <a:t>Freshness and quality</a:t>
            </a:r>
            <a:endParaRPr lang="en-US" sz="1700" dirty="0"/>
          </a:p>
        </p:txBody>
      </p:sp>
      <p:sp>
        <p:nvSpPr>
          <p:cNvPr id="9" name="Text 6"/>
          <p:cNvSpPr txBox="1"/>
          <p:nvPr/>
        </p:nvSpPr>
        <p:spPr>
          <a:xfrm>
            <a:off x="7086600" y="2871216"/>
            <a:ext cx="4389120" cy="502920"/>
          </a:xfrm>
          <a:prstGeom prst="rect">
            <a:avLst/>
          </a:prstGeom>
          <a:noFill/>
          <a:ln/>
        </p:spPr>
        <p:txBody>
          <a:bodyPr wrap="square" lIns="0" tIns="0" rIns="0" bIns="0" rtlCol="0" anchor="t"/>
          <a:lstStyle/>
          <a:p>
            <a:pPr indent="0" marL="0">
              <a:buNone/>
            </a:pPr>
            <a:r>
              <a:rPr lang="en-US" sz="1400" dirty="0">
                <a:solidFill>
                  <a:schemeClr val="tx1"/>
                </a:solidFill>
              </a:rPr>
              <a:t>Latest genuine observation, stale-quote rate, reporting gaps — on screen.</a:t>
            </a:r>
            <a:endParaRPr lang="en-US" sz="1400" dirty="0"/>
          </a:p>
        </p:txBody>
      </p:sp>
      <p:sp>
        <p:nvSpPr>
          <p:cNvPr id="10" name="Shape 7"/>
          <p:cNvSpPr/>
          <p:nvPr/>
        </p:nvSpPr>
        <p:spPr>
          <a:xfrm>
            <a:off x="6903720" y="3557016"/>
            <a:ext cx="4736592" cy="987552"/>
          </a:xfrm>
          <a:prstGeom prst="roundRect">
            <a:avLst>
              <a:gd name="adj" fmla="val 11111"/>
            </a:avLst>
          </a:prstGeom>
          <a:solidFill>
            <a:srgbClr val="F1F5F2"/>
          </a:solidFill>
          <a:ln w="9525">
            <a:solidFill>
              <a:srgbClr val="DDE5E0"/>
            </a:solidFill>
            <a:prstDash val="solid"/>
          </a:ln>
        </p:spPr>
      </p:sp>
      <p:sp>
        <p:nvSpPr>
          <p:cNvPr id="11" name="Text 8"/>
          <p:cNvSpPr txBox="1"/>
          <p:nvPr/>
        </p:nvSpPr>
        <p:spPr>
          <a:xfrm>
            <a:off x="7086600" y="3630168"/>
            <a:ext cx="4389120" cy="365760"/>
          </a:xfrm>
          <a:prstGeom prst="rect">
            <a:avLst/>
          </a:prstGeom>
          <a:noFill/>
          <a:ln/>
        </p:spPr>
        <p:txBody>
          <a:bodyPr wrap="square" lIns="0" tIns="0" rIns="0" bIns="0" rtlCol="0" anchor="ctr"/>
          <a:lstStyle/>
          <a:p>
            <a:pPr indent="0" marL="0">
              <a:buNone/>
            </a:pPr>
            <a:r>
              <a:rPr lang="en-US" sz="1700" b="1" dirty="0">
                <a:solidFill>
                  <a:schemeClr val="accent1"/>
                </a:solidFill>
              </a:rPr>
              <a:t>Honest uncertainty</a:t>
            </a:r>
            <a:endParaRPr lang="en-US" sz="1700" dirty="0"/>
          </a:p>
        </p:txBody>
      </p:sp>
      <p:sp>
        <p:nvSpPr>
          <p:cNvPr id="12" name="Text 9"/>
          <p:cNvSpPr txBox="1"/>
          <p:nvPr/>
        </p:nvSpPr>
        <p:spPr>
          <a:xfrm>
            <a:off x="7086600" y="3986784"/>
            <a:ext cx="4389120" cy="502920"/>
          </a:xfrm>
          <a:prstGeom prst="rect">
            <a:avLst/>
          </a:prstGeom>
          <a:noFill/>
          <a:ln/>
        </p:spPr>
        <p:txBody>
          <a:bodyPr wrap="square" lIns="0" tIns="0" rIns="0" bIns="0" rtlCol="0" anchor="t"/>
          <a:lstStyle/>
          <a:p>
            <a:pPr indent="0" marL="0">
              <a:buNone/>
            </a:pPr>
            <a:r>
              <a:rPr lang="en-US" sz="1400" dirty="0">
                <a:solidFill>
                  <a:schemeClr val="tx1"/>
                </a:solidFill>
              </a:rPr>
              <a:t>Ranges are drawn only if they held up on unseen data. They didn't, so we say so.</a:t>
            </a:r>
            <a:endParaRPr lang="en-US" sz="1400" dirty="0"/>
          </a:p>
        </p:txBody>
      </p:sp>
      <p:sp>
        <p:nvSpPr>
          <p:cNvPr id="13" name="Shape 10"/>
          <p:cNvSpPr/>
          <p:nvPr/>
        </p:nvSpPr>
        <p:spPr>
          <a:xfrm>
            <a:off x="6903720" y="4672584"/>
            <a:ext cx="4736592" cy="987552"/>
          </a:xfrm>
          <a:prstGeom prst="roundRect">
            <a:avLst>
              <a:gd name="adj" fmla="val 11111"/>
            </a:avLst>
          </a:prstGeom>
          <a:solidFill>
            <a:srgbClr val="F1F5F2"/>
          </a:solidFill>
          <a:ln w="9525">
            <a:solidFill>
              <a:srgbClr val="DDE5E0"/>
            </a:solidFill>
            <a:prstDash val="solid"/>
          </a:ln>
        </p:spPr>
      </p:sp>
      <p:sp>
        <p:nvSpPr>
          <p:cNvPr id="14" name="Text 11"/>
          <p:cNvSpPr txBox="1"/>
          <p:nvPr/>
        </p:nvSpPr>
        <p:spPr>
          <a:xfrm>
            <a:off x="7086600" y="4745736"/>
            <a:ext cx="4389120" cy="365760"/>
          </a:xfrm>
          <a:prstGeom prst="rect">
            <a:avLst/>
          </a:prstGeom>
          <a:noFill/>
          <a:ln/>
        </p:spPr>
        <p:txBody>
          <a:bodyPr wrap="square" lIns="0" tIns="0" rIns="0" bIns="0" rtlCol="0" anchor="ctr"/>
          <a:lstStyle/>
          <a:p>
            <a:pPr indent="0" marL="0">
              <a:buNone/>
            </a:pPr>
            <a:r>
              <a:rPr lang="en-US" sz="1700" b="1" dirty="0">
                <a:solidFill>
                  <a:schemeClr val="accent1"/>
                </a:solidFill>
              </a:rPr>
              <a:t>English + हिन्दी</a:t>
            </a:r>
            <a:endParaRPr lang="en-US" sz="1700" dirty="0"/>
          </a:p>
        </p:txBody>
      </p:sp>
      <p:sp>
        <p:nvSpPr>
          <p:cNvPr id="15" name="Text 12"/>
          <p:cNvSpPr txBox="1"/>
          <p:nvPr/>
        </p:nvSpPr>
        <p:spPr>
          <a:xfrm>
            <a:off x="7086600" y="5102352"/>
            <a:ext cx="4389120" cy="502920"/>
          </a:xfrm>
          <a:prstGeom prst="rect">
            <a:avLst/>
          </a:prstGeom>
          <a:noFill/>
          <a:ln/>
        </p:spPr>
        <p:txBody>
          <a:bodyPr wrap="square" lIns="0" tIns="0" rIns="0" bIns="0" rtlCol="0" anchor="t"/>
          <a:lstStyle/>
          <a:p>
            <a:pPr indent="0" marL="0">
              <a:buNone/>
            </a:pPr>
            <a:r>
              <a:rPr lang="en-US" sz="1400" dirty="0">
                <a:solidFill>
                  <a:schemeClr val="tx1"/>
                </a:solidFill>
              </a:rPr>
              <a:t>Plain-language views in Hindi; CSV downloads; works on a phone.</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It works today: seven views, every number traceable to a file</a:t>
            </a:r>
            <a:endParaRPr lang="en-US" sz="3000" dirty="0"/>
          </a:p>
        </p:txBody>
      </p:sp>
      <p:pic>
        <p:nvPicPr>
          <p:cNvPr id="3" name="Image 0" descr="Price history: reported vs carried-forward days">    </p:cNvPr>
          <p:cNvPicPr>
            <a:picLocks noChangeAspect="1"/>
          </p:cNvPicPr>
          <p:nvPr/>
        </p:nvPicPr>
        <p:blipFill>
          <a:blip r:embed="rId1"/>
          <a:stretch>
            <a:fillRect/>
          </a:stretch>
        </p:blipFill>
        <p:spPr>
          <a:xfrm>
            <a:off x="548640" y="1234440"/>
            <a:ext cx="5394960" cy="2075688"/>
          </a:xfrm>
          <a:prstGeom prst="rect">
            <a:avLst/>
          </a:prstGeom>
        </p:spPr>
      </p:pic>
      <p:sp>
        <p:nvSpPr>
          <p:cNvPr id="4" name="Shape 1"/>
          <p:cNvSpPr/>
          <p:nvPr/>
        </p:nvSpPr>
        <p:spPr>
          <a:xfrm>
            <a:off x="548640" y="1234440"/>
            <a:ext cx="5394960" cy="2075688"/>
          </a:xfrm>
          <a:prstGeom prst="rect">
            <a:avLst/>
          </a:prstGeom>
          <a:ln w="9525">
            <a:solidFill>
              <a:srgbClr val="DDE5E0"/>
            </a:solidFill>
            <a:prstDash val="solid"/>
          </a:ln>
        </p:spPr>
      </p:sp>
      <p:sp>
        <p:nvSpPr>
          <p:cNvPr id="5" name="Text 2"/>
          <p:cNvSpPr txBox="1"/>
          <p:nvPr/>
        </p:nvSpPr>
        <p:spPr>
          <a:xfrm>
            <a:off x="548640" y="3337560"/>
            <a:ext cx="5394960" cy="329184"/>
          </a:xfrm>
          <a:prstGeom prst="rect">
            <a:avLst/>
          </a:prstGeom>
          <a:noFill/>
          <a:ln/>
        </p:spPr>
        <p:txBody>
          <a:bodyPr wrap="square" lIns="0" tIns="0" rIns="0" bIns="0" rtlCol="0" anchor="ctr"/>
          <a:lstStyle/>
          <a:p>
            <a:pPr indent="0" marL="0">
              <a:buNone/>
            </a:pPr>
            <a:r>
              <a:rPr lang="en-US" sz="1300" dirty="0">
                <a:solidFill>
                  <a:srgbClr val="5B6472"/>
                </a:solidFill>
              </a:rPr>
              <a:t>Price history: reported vs carried-forward days</a:t>
            </a:r>
            <a:endParaRPr lang="en-US" sz="1300" dirty="0"/>
          </a:p>
        </p:txBody>
      </p:sp>
      <p:pic>
        <p:nvPicPr>
          <p:cNvPr id="6" name="Image 1" descr="Model evaluation: chosen by CV, every model on the same days">    </p:cNvPr>
          <p:cNvPicPr>
            <a:picLocks noChangeAspect="1"/>
          </p:cNvPicPr>
          <p:nvPr/>
        </p:nvPicPr>
        <p:blipFill>
          <a:blip r:embed="rId2"/>
          <a:stretch>
            <a:fillRect/>
          </a:stretch>
        </p:blipFill>
        <p:spPr>
          <a:xfrm>
            <a:off x="6190488" y="1234440"/>
            <a:ext cx="5394960" cy="2075688"/>
          </a:xfrm>
          <a:prstGeom prst="rect">
            <a:avLst/>
          </a:prstGeom>
        </p:spPr>
      </p:pic>
      <p:sp>
        <p:nvSpPr>
          <p:cNvPr id="7" name="Shape 3"/>
          <p:cNvSpPr/>
          <p:nvPr/>
        </p:nvSpPr>
        <p:spPr>
          <a:xfrm>
            <a:off x="6190488" y="1234440"/>
            <a:ext cx="5394960" cy="2075688"/>
          </a:xfrm>
          <a:prstGeom prst="rect">
            <a:avLst/>
          </a:prstGeom>
          <a:ln w="9525">
            <a:solidFill>
              <a:srgbClr val="DDE5E0"/>
            </a:solidFill>
            <a:prstDash val="solid"/>
          </a:ln>
        </p:spPr>
      </p:sp>
      <p:sp>
        <p:nvSpPr>
          <p:cNvPr id="8" name="Text 4"/>
          <p:cNvSpPr txBox="1"/>
          <p:nvPr/>
        </p:nvSpPr>
        <p:spPr>
          <a:xfrm>
            <a:off x="6190488" y="3337560"/>
            <a:ext cx="5394960" cy="329184"/>
          </a:xfrm>
          <a:prstGeom prst="rect">
            <a:avLst/>
          </a:prstGeom>
          <a:noFill/>
          <a:ln/>
        </p:spPr>
        <p:txBody>
          <a:bodyPr wrap="square" lIns="0" tIns="0" rIns="0" bIns="0" rtlCol="0" anchor="ctr"/>
          <a:lstStyle/>
          <a:p>
            <a:pPr indent="0" marL="0">
              <a:buNone/>
            </a:pPr>
            <a:r>
              <a:rPr lang="en-US" sz="1300" dirty="0">
                <a:solidFill>
                  <a:srgbClr val="5B6472"/>
                </a:solidFill>
              </a:rPr>
              <a:t>Model evaluation: chosen by CV, every model on the same days</a:t>
            </a:r>
            <a:endParaRPr lang="en-US" sz="1300" dirty="0"/>
          </a:p>
        </p:txBody>
      </p:sp>
      <p:pic>
        <p:nvPicPr>
          <p:cNvPr id="9" name="Image 2" descr="Forecast: origin and target dates, no fake confidence band">    </p:cNvPr>
          <p:cNvPicPr>
            <a:picLocks noChangeAspect="1"/>
          </p:cNvPicPr>
          <p:nvPr/>
        </p:nvPicPr>
        <p:blipFill>
          <a:blip r:embed="rId3"/>
          <a:stretch>
            <a:fillRect/>
          </a:stretch>
        </p:blipFill>
        <p:spPr>
          <a:xfrm>
            <a:off x="548640" y="3721608"/>
            <a:ext cx="5394960" cy="2075688"/>
          </a:xfrm>
          <a:prstGeom prst="rect">
            <a:avLst/>
          </a:prstGeom>
        </p:spPr>
      </p:pic>
      <p:sp>
        <p:nvSpPr>
          <p:cNvPr id="10" name="Shape 5"/>
          <p:cNvSpPr/>
          <p:nvPr/>
        </p:nvSpPr>
        <p:spPr>
          <a:xfrm>
            <a:off x="548640" y="3721608"/>
            <a:ext cx="5394960" cy="2075688"/>
          </a:xfrm>
          <a:prstGeom prst="rect">
            <a:avLst/>
          </a:prstGeom>
          <a:ln w="9525">
            <a:solidFill>
              <a:srgbClr val="DDE5E0"/>
            </a:solidFill>
            <a:prstDash val="solid"/>
          </a:ln>
        </p:spPr>
      </p:sp>
      <p:sp>
        <p:nvSpPr>
          <p:cNvPr id="11" name="Text 6"/>
          <p:cNvSpPr txBox="1"/>
          <p:nvPr/>
        </p:nvSpPr>
        <p:spPr>
          <a:xfrm>
            <a:off x="548640" y="5824728"/>
            <a:ext cx="5394960" cy="329184"/>
          </a:xfrm>
          <a:prstGeom prst="rect">
            <a:avLst/>
          </a:prstGeom>
          <a:noFill/>
          <a:ln/>
        </p:spPr>
        <p:txBody>
          <a:bodyPr wrap="square" lIns="0" tIns="0" rIns="0" bIns="0" rtlCol="0" anchor="ctr"/>
          <a:lstStyle/>
          <a:p>
            <a:pPr indent="0" marL="0">
              <a:buNone/>
            </a:pPr>
            <a:r>
              <a:rPr lang="en-US" sz="1300" dirty="0">
                <a:solidFill>
                  <a:srgbClr val="5B6472"/>
                </a:solidFill>
              </a:rPr>
              <a:t>Forecast: origin and target dates, no fake confidence band</a:t>
            </a:r>
            <a:endParaRPr lang="en-US" sz="1300" dirty="0"/>
          </a:p>
        </p:txBody>
      </p:sp>
      <p:pic>
        <p:nvPicPr>
          <p:cNvPr id="12" name="Image 3" descr="Hindi view for farmers">    </p:cNvPr>
          <p:cNvPicPr>
            <a:picLocks noChangeAspect="1"/>
          </p:cNvPicPr>
          <p:nvPr/>
        </p:nvPicPr>
        <p:blipFill>
          <a:blip r:embed="rId4"/>
          <a:stretch>
            <a:fillRect/>
          </a:stretch>
        </p:blipFill>
        <p:spPr>
          <a:xfrm>
            <a:off x="6190488" y="3721608"/>
            <a:ext cx="5394960" cy="2075688"/>
          </a:xfrm>
          <a:prstGeom prst="rect">
            <a:avLst/>
          </a:prstGeom>
        </p:spPr>
      </p:pic>
      <p:sp>
        <p:nvSpPr>
          <p:cNvPr id="13" name="Shape 7"/>
          <p:cNvSpPr/>
          <p:nvPr/>
        </p:nvSpPr>
        <p:spPr>
          <a:xfrm>
            <a:off x="6190488" y="3721608"/>
            <a:ext cx="5394960" cy="2075688"/>
          </a:xfrm>
          <a:prstGeom prst="rect">
            <a:avLst/>
          </a:prstGeom>
          <a:ln w="9525">
            <a:solidFill>
              <a:srgbClr val="DDE5E0"/>
            </a:solidFill>
            <a:prstDash val="solid"/>
          </a:ln>
        </p:spPr>
      </p:sp>
      <p:sp>
        <p:nvSpPr>
          <p:cNvPr id="14" name="Text 8"/>
          <p:cNvSpPr txBox="1"/>
          <p:nvPr/>
        </p:nvSpPr>
        <p:spPr>
          <a:xfrm>
            <a:off x="6190488" y="5824728"/>
            <a:ext cx="5394960" cy="329184"/>
          </a:xfrm>
          <a:prstGeom prst="rect">
            <a:avLst/>
          </a:prstGeom>
          <a:noFill/>
          <a:ln/>
        </p:spPr>
        <p:txBody>
          <a:bodyPr wrap="square" lIns="0" tIns="0" rIns="0" bIns="0" rtlCol="0" anchor="ctr"/>
          <a:lstStyle/>
          <a:p>
            <a:pPr indent="0" marL="0">
              <a:buNone/>
            </a:pPr>
            <a:r>
              <a:rPr lang="en-US" sz="1300" dirty="0">
                <a:solidFill>
                  <a:srgbClr val="5B6472"/>
                </a:solidFill>
              </a:rPr>
              <a:t>Hindi view for farmers</a:t>
            </a:r>
            <a:endParaRPr lang="en-US" sz="13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 pipeline that refuses to write a misleading result</a:t>
            </a:r>
            <a:endParaRPr lang="en-US" sz="3000" dirty="0"/>
          </a:p>
        </p:txBody>
      </p:sp>
      <p:sp>
        <p:nvSpPr>
          <p:cNvPr id="3" name="Shape 1"/>
          <p:cNvSpPr/>
          <p:nvPr/>
        </p:nvSpPr>
        <p:spPr>
          <a:xfrm>
            <a:off x="548640" y="1737360"/>
            <a:ext cx="1645920" cy="1325880"/>
          </a:xfrm>
          <a:prstGeom prst="roundRect">
            <a:avLst>
              <a:gd name="adj" fmla="val 6897"/>
            </a:avLst>
          </a:prstGeom>
          <a:solidFill>
            <a:srgbClr val="F1F5F2"/>
          </a:solidFill>
          <a:ln w="9525">
            <a:solidFill>
              <a:srgbClr val="C9D6CE"/>
            </a:solidFill>
            <a:prstDash val="solid"/>
          </a:ln>
        </p:spPr>
      </p:sp>
      <p:sp>
        <p:nvSpPr>
          <p:cNvPr id="4" name="Text 2"/>
          <p:cNvSpPr txBox="1"/>
          <p:nvPr/>
        </p:nvSpPr>
        <p:spPr>
          <a:xfrm>
            <a:off x="621792" y="1828800"/>
            <a:ext cx="1499616" cy="640080"/>
          </a:xfrm>
          <a:prstGeom prst="rect">
            <a:avLst/>
          </a:prstGeom>
          <a:noFill/>
          <a:ln/>
        </p:spPr>
        <p:txBody>
          <a:bodyPr wrap="square" lIns="0" tIns="0" rIns="0" bIns="0" rtlCol="0" anchor="ctr"/>
          <a:lstStyle/>
          <a:p>
            <a:pPr algn="ctr" indent="0" marL="0">
              <a:buNone/>
            </a:pPr>
            <a:r>
              <a:rPr lang="en-US" sz="1500" b="1" dirty="0">
                <a:solidFill>
                  <a:schemeClr val="tx1"/>
                </a:solidFill>
              </a:rPr>
              <a:t>Official CSVs</a:t>
            </a:r>
            <a:endParaRPr lang="en-US" sz="1500" dirty="0"/>
          </a:p>
        </p:txBody>
      </p:sp>
      <p:sp>
        <p:nvSpPr>
          <p:cNvPr id="5" name="Text 3"/>
          <p:cNvSpPr txBox="1"/>
          <p:nvPr/>
        </p:nvSpPr>
        <p:spPr>
          <a:xfrm>
            <a:off x="621792" y="2468880"/>
            <a:ext cx="1499616" cy="502920"/>
          </a:xfrm>
          <a:prstGeom prst="rect">
            <a:avLst/>
          </a:prstGeom>
          <a:noFill/>
          <a:ln/>
        </p:spPr>
        <p:txBody>
          <a:bodyPr wrap="square" lIns="0" tIns="0" rIns="0" bIns="0" rtlCol="0" anchor="t"/>
          <a:lstStyle/>
          <a:p>
            <a:pPr algn="ctr" indent="0" marL="0">
              <a:buNone/>
            </a:pPr>
            <a:r>
              <a:rPr lang="en-US" sz="1200" dirty="0">
                <a:solidFill>
                  <a:srgbClr val="5B6472"/>
                </a:solidFill>
              </a:rPr>
              <a:t>untouched, SHA-256</a:t>
            </a:r>
            <a:endParaRPr lang="en-US" sz="1200" dirty="0"/>
          </a:p>
        </p:txBody>
      </p:sp>
      <p:sp>
        <p:nvSpPr>
          <p:cNvPr id="6" name="Shape 4"/>
          <p:cNvSpPr/>
          <p:nvPr/>
        </p:nvSpPr>
        <p:spPr>
          <a:xfrm>
            <a:off x="2212848" y="2258568"/>
            <a:ext cx="201168" cy="274320"/>
          </a:xfrm>
          <a:prstGeom prst="rightArrow">
            <a:avLst/>
          </a:prstGeom>
          <a:solidFill>
            <a:srgbClr val="9AA3AD"/>
          </a:solidFill>
          <a:ln w="12700">
            <a:solidFill>
              <a:srgbClr val="9AA3AD"/>
            </a:solidFill>
            <a:prstDash val="solid"/>
          </a:ln>
        </p:spPr>
      </p:sp>
      <p:sp>
        <p:nvSpPr>
          <p:cNvPr id="7" name="Shape 5"/>
          <p:cNvSpPr/>
          <p:nvPr/>
        </p:nvSpPr>
        <p:spPr>
          <a:xfrm>
            <a:off x="2441448" y="1737360"/>
            <a:ext cx="1645920" cy="1325880"/>
          </a:xfrm>
          <a:prstGeom prst="roundRect">
            <a:avLst>
              <a:gd name="adj" fmla="val 6897"/>
            </a:avLst>
          </a:prstGeom>
          <a:solidFill>
            <a:srgbClr val="F1F5F2"/>
          </a:solidFill>
          <a:ln w="9525">
            <a:solidFill>
              <a:srgbClr val="C9D6CE"/>
            </a:solidFill>
            <a:prstDash val="solid"/>
          </a:ln>
        </p:spPr>
      </p:sp>
      <p:sp>
        <p:nvSpPr>
          <p:cNvPr id="8" name="Text 6"/>
          <p:cNvSpPr txBox="1"/>
          <p:nvPr/>
        </p:nvSpPr>
        <p:spPr>
          <a:xfrm>
            <a:off x="2514600" y="1828800"/>
            <a:ext cx="1499616" cy="640080"/>
          </a:xfrm>
          <a:prstGeom prst="rect">
            <a:avLst/>
          </a:prstGeom>
          <a:noFill/>
          <a:ln/>
        </p:spPr>
        <p:txBody>
          <a:bodyPr wrap="square" lIns="0" tIns="0" rIns="0" bIns="0" rtlCol="0" anchor="ctr"/>
          <a:lstStyle/>
          <a:p>
            <a:pPr algn="ctr" indent="0" marL="0">
              <a:buNone/>
            </a:pPr>
            <a:r>
              <a:rPr lang="en-US" sz="1500" b="1" dirty="0">
                <a:solidFill>
                  <a:schemeClr val="tx1"/>
                </a:solidFill>
              </a:rPr>
              <a:t>Clean + calendar</a:t>
            </a:r>
            <a:endParaRPr lang="en-US" sz="1500" dirty="0"/>
          </a:p>
        </p:txBody>
      </p:sp>
      <p:sp>
        <p:nvSpPr>
          <p:cNvPr id="9" name="Text 7"/>
          <p:cNvSpPr txBox="1"/>
          <p:nvPr/>
        </p:nvSpPr>
        <p:spPr>
          <a:xfrm>
            <a:off x="2514600" y="2468880"/>
            <a:ext cx="1499616" cy="502920"/>
          </a:xfrm>
          <a:prstGeom prst="rect">
            <a:avLst/>
          </a:prstGeom>
          <a:noFill/>
          <a:ln/>
        </p:spPr>
        <p:txBody>
          <a:bodyPr wrap="square" lIns="0" tIns="0" rIns="0" bIns="0" rtlCol="0" anchor="t"/>
          <a:lstStyle/>
          <a:p>
            <a:pPr algn="ctr" indent="0" marL="0">
              <a:buNone/>
            </a:pPr>
            <a:r>
              <a:rPr lang="en-US" sz="1200" dirty="0">
                <a:solidFill>
                  <a:srgbClr val="5B6472"/>
                </a:solidFill>
              </a:rPr>
              <a:t>0 = missing</a:t>
            </a:r>
            <a:endParaRPr lang="en-US" sz="1200" dirty="0"/>
          </a:p>
        </p:txBody>
      </p:sp>
      <p:sp>
        <p:nvSpPr>
          <p:cNvPr id="10" name="Shape 8"/>
          <p:cNvSpPr/>
          <p:nvPr/>
        </p:nvSpPr>
        <p:spPr>
          <a:xfrm>
            <a:off x="4105656" y="2258568"/>
            <a:ext cx="201168" cy="274320"/>
          </a:xfrm>
          <a:prstGeom prst="rightArrow">
            <a:avLst/>
          </a:prstGeom>
          <a:solidFill>
            <a:srgbClr val="9AA3AD"/>
          </a:solidFill>
          <a:ln w="12700">
            <a:solidFill>
              <a:srgbClr val="9AA3AD"/>
            </a:solidFill>
            <a:prstDash val="solid"/>
          </a:ln>
        </p:spPr>
      </p:sp>
      <p:sp>
        <p:nvSpPr>
          <p:cNvPr id="11" name="Shape 9"/>
          <p:cNvSpPr/>
          <p:nvPr/>
        </p:nvSpPr>
        <p:spPr>
          <a:xfrm>
            <a:off x="4334256" y="1737360"/>
            <a:ext cx="1645920" cy="1325880"/>
          </a:xfrm>
          <a:prstGeom prst="roundRect">
            <a:avLst>
              <a:gd name="adj" fmla="val 6897"/>
            </a:avLst>
          </a:prstGeom>
          <a:solidFill>
            <a:srgbClr val="F1F5F2"/>
          </a:solidFill>
          <a:ln w="9525">
            <a:solidFill>
              <a:srgbClr val="C9D6CE"/>
            </a:solidFill>
            <a:prstDash val="solid"/>
          </a:ln>
        </p:spPr>
      </p:sp>
      <p:sp>
        <p:nvSpPr>
          <p:cNvPr id="12" name="Text 10"/>
          <p:cNvSpPr txBox="1"/>
          <p:nvPr/>
        </p:nvSpPr>
        <p:spPr>
          <a:xfrm>
            <a:off x="4407408" y="1828800"/>
            <a:ext cx="1499616" cy="640080"/>
          </a:xfrm>
          <a:prstGeom prst="rect">
            <a:avLst/>
          </a:prstGeom>
          <a:noFill/>
          <a:ln/>
        </p:spPr>
        <p:txBody>
          <a:bodyPr wrap="square" lIns="0" tIns="0" rIns="0" bIns="0" rtlCol="0" anchor="ctr"/>
          <a:lstStyle/>
          <a:p>
            <a:pPr algn="ctr" indent="0" marL="0">
              <a:buNone/>
            </a:pPr>
            <a:r>
              <a:rPr lang="en-US" sz="1500" b="1" dirty="0">
                <a:solidFill>
                  <a:schemeClr val="tx1"/>
                </a:solidFill>
              </a:rPr>
              <a:t>Features ≤ day t</a:t>
            </a:r>
            <a:endParaRPr lang="en-US" sz="1500" dirty="0"/>
          </a:p>
        </p:txBody>
      </p:sp>
      <p:sp>
        <p:nvSpPr>
          <p:cNvPr id="13" name="Text 11"/>
          <p:cNvSpPr txBox="1"/>
          <p:nvPr/>
        </p:nvSpPr>
        <p:spPr>
          <a:xfrm>
            <a:off x="4407408" y="2468880"/>
            <a:ext cx="1499616" cy="502920"/>
          </a:xfrm>
          <a:prstGeom prst="rect">
            <a:avLst/>
          </a:prstGeom>
          <a:noFill/>
          <a:ln/>
        </p:spPr>
        <p:txBody>
          <a:bodyPr wrap="square" lIns="0" tIns="0" rIns="0" bIns="0" rtlCol="0" anchor="t"/>
          <a:lstStyle/>
          <a:p>
            <a:pPr algn="ctr" indent="0" marL="0">
              <a:buNone/>
            </a:pPr>
            <a:r>
              <a:rPr lang="en-US" sz="1200" dirty="0">
                <a:solidFill>
                  <a:srgbClr val="5B6472"/>
                </a:solidFill>
              </a:rPr>
              <a:t>leakage-proofed</a:t>
            </a:r>
            <a:endParaRPr lang="en-US" sz="1200" dirty="0"/>
          </a:p>
        </p:txBody>
      </p:sp>
      <p:sp>
        <p:nvSpPr>
          <p:cNvPr id="14" name="Shape 12"/>
          <p:cNvSpPr/>
          <p:nvPr/>
        </p:nvSpPr>
        <p:spPr>
          <a:xfrm>
            <a:off x="5998464" y="2258568"/>
            <a:ext cx="201168" cy="274320"/>
          </a:xfrm>
          <a:prstGeom prst="rightArrow">
            <a:avLst/>
          </a:prstGeom>
          <a:solidFill>
            <a:srgbClr val="9AA3AD"/>
          </a:solidFill>
          <a:ln w="12700">
            <a:solidFill>
              <a:srgbClr val="9AA3AD"/>
            </a:solidFill>
            <a:prstDash val="solid"/>
          </a:ln>
        </p:spPr>
      </p:sp>
      <p:sp>
        <p:nvSpPr>
          <p:cNvPr id="15" name="Shape 13"/>
          <p:cNvSpPr/>
          <p:nvPr/>
        </p:nvSpPr>
        <p:spPr>
          <a:xfrm>
            <a:off x="6227064" y="1737360"/>
            <a:ext cx="1645920" cy="1325880"/>
          </a:xfrm>
          <a:prstGeom prst="roundRect">
            <a:avLst>
              <a:gd name="adj" fmla="val 6897"/>
            </a:avLst>
          </a:prstGeom>
          <a:solidFill>
            <a:srgbClr val="F1F5F2"/>
          </a:solidFill>
          <a:ln w="9525">
            <a:solidFill>
              <a:srgbClr val="C9D6CE"/>
            </a:solidFill>
            <a:prstDash val="solid"/>
          </a:ln>
        </p:spPr>
      </p:sp>
      <p:sp>
        <p:nvSpPr>
          <p:cNvPr id="16" name="Text 14"/>
          <p:cNvSpPr txBox="1"/>
          <p:nvPr/>
        </p:nvSpPr>
        <p:spPr>
          <a:xfrm>
            <a:off x="6300216" y="1828800"/>
            <a:ext cx="1499616" cy="640080"/>
          </a:xfrm>
          <a:prstGeom prst="rect">
            <a:avLst/>
          </a:prstGeom>
          <a:noFill/>
          <a:ln/>
        </p:spPr>
        <p:txBody>
          <a:bodyPr wrap="square" lIns="0" tIns="0" rIns="0" bIns="0" rtlCol="0" anchor="ctr"/>
          <a:lstStyle/>
          <a:p>
            <a:pPr algn="ctr" indent="0" marL="0">
              <a:buNone/>
            </a:pPr>
            <a:r>
              <a:rPr lang="en-US" sz="1500" b="1" dirty="0">
                <a:solidFill>
                  <a:schemeClr val="tx1"/>
                </a:solidFill>
              </a:rPr>
              <a:t>Choose by CV</a:t>
            </a:r>
            <a:endParaRPr lang="en-US" sz="1500" dirty="0"/>
          </a:p>
        </p:txBody>
      </p:sp>
      <p:sp>
        <p:nvSpPr>
          <p:cNvPr id="17" name="Text 15"/>
          <p:cNvSpPr txBox="1"/>
          <p:nvPr/>
        </p:nvSpPr>
        <p:spPr>
          <a:xfrm>
            <a:off x="6300216" y="2468880"/>
            <a:ext cx="1499616" cy="502920"/>
          </a:xfrm>
          <a:prstGeom prst="rect">
            <a:avLst/>
          </a:prstGeom>
          <a:noFill/>
          <a:ln/>
        </p:spPr>
        <p:txBody>
          <a:bodyPr wrap="square" lIns="0" tIns="0" rIns="0" bIns="0" rtlCol="0" anchor="t"/>
          <a:lstStyle/>
          <a:p>
            <a:pPr algn="ctr" indent="0" marL="0">
              <a:buNone/>
            </a:pPr>
            <a:r>
              <a:rPr lang="en-US" sz="1200" dirty="0">
                <a:solidFill>
                  <a:srgbClr val="5B6472"/>
                </a:solidFill>
              </a:rPr>
              <a:t>4 rolling folds</a:t>
            </a:r>
            <a:endParaRPr lang="en-US" sz="1200" dirty="0"/>
          </a:p>
        </p:txBody>
      </p:sp>
      <p:sp>
        <p:nvSpPr>
          <p:cNvPr id="18" name="Shape 16"/>
          <p:cNvSpPr/>
          <p:nvPr/>
        </p:nvSpPr>
        <p:spPr>
          <a:xfrm>
            <a:off x="7891272" y="2258568"/>
            <a:ext cx="201168" cy="274320"/>
          </a:xfrm>
          <a:prstGeom prst="rightArrow">
            <a:avLst/>
          </a:prstGeom>
          <a:solidFill>
            <a:srgbClr val="9AA3AD"/>
          </a:solidFill>
          <a:ln w="12700">
            <a:solidFill>
              <a:srgbClr val="9AA3AD"/>
            </a:solidFill>
            <a:prstDash val="solid"/>
          </a:ln>
        </p:spPr>
      </p:sp>
      <p:sp>
        <p:nvSpPr>
          <p:cNvPr id="19" name="Shape 17"/>
          <p:cNvSpPr/>
          <p:nvPr/>
        </p:nvSpPr>
        <p:spPr>
          <a:xfrm>
            <a:off x="8119872" y="1737360"/>
            <a:ext cx="1645920" cy="1325880"/>
          </a:xfrm>
          <a:prstGeom prst="roundRect">
            <a:avLst>
              <a:gd name="adj" fmla="val 6897"/>
            </a:avLst>
          </a:prstGeom>
          <a:solidFill>
            <a:srgbClr val="1F6F4A"/>
          </a:solidFill>
          <a:ln w="9525">
            <a:solidFill>
              <a:srgbClr val="C9D6CE"/>
            </a:solidFill>
            <a:prstDash val="solid"/>
          </a:ln>
        </p:spPr>
      </p:sp>
      <p:sp>
        <p:nvSpPr>
          <p:cNvPr id="20" name="Text 18"/>
          <p:cNvSpPr txBox="1"/>
          <p:nvPr/>
        </p:nvSpPr>
        <p:spPr>
          <a:xfrm>
            <a:off x="8193024" y="1828800"/>
            <a:ext cx="1499616" cy="640080"/>
          </a:xfrm>
          <a:prstGeom prst="rect">
            <a:avLst/>
          </a:prstGeom>
          <a:noFill/>
          <a:ln/>
        </p:spPr>
        <p:txBody>
          <a:bodyPr wrap="square" lIns="0" tIns="0" rIns="0" bIns="0" rtlCol="0" anchor="ctr"/>
          <a:lstStyle/>
          <a:p>
            <a:pPr algn="ctr" indent="0" marL="0">
              <a:buNone/>
            </a:pPr>
            <a:r>
              <a:rPr lang="en-US" sz="1500" b="1" dirty="0">
                <a:solidFill>
                  <a:schemeClr val="bg1"/>
                </a:solidFill>
              </a:rPr>
              <a:t>Test once</a:t>
            </a:r>
            <a:endParaRPr lang="en-US" sz="1500" dirty="0"/>
          </a:p>
        </p:txBody>
      </p:sp>
      <p:sp>
        <p:nvSpPr>
          <p:cNvPr id="21" name="Text 19"/>
          <p:cNvSpPr txBox="1"/>
          <p:nvPr/>
        </p:nvSpPr>
        <p:spPr>
          <a:xfrm>
            <a:off x="8193024" y="2468880"/>
            <a:ext cx="1499616" cy="502920"/>
          </a:xfrm>
          <a:prstGeom prst="rect">
            <a:avLst/>
          </a:prstGeom>
          <a:noFill/>
          <a:ln/>
        </p:spPr>
        <p:txBody>
          <a:bodyPr wrap="square" lIns="0" tIns="0" rIns="0" bIns="0" rtlCol="0" anchor="t"/>
          <a:lstStyle/>
          <a:p>
            <a:pPr algn="ctr" indent="0" marL="0">
              <a:buNone/>
            </a:pPr>
            <a:r>
              <a:rPr lang="en-US" sz="1200" dirty="0">
                <a:solidFill>
                  <a:schemeClr val="bg1"/>
                </a:solidFill>
              </a:rPr>
              <a:t>~200 unseen days</a:t>
            </a:r>
            <a:endParaRPr lang="en-US" sz="1200" dirty="0"/>
          </a:p>
        </p:txBody>
      </p:sp>
      <p:sp>
        <p:nvSpPr>
          <p:cNvPr id="22" name="Shape 20"/>
          <p:cNvSpPr/>
          <p:nvPr/>
        </p:nvSpPr>
        <p:spPr>
          <a:xfrm>
            <a:off x="9784080" y="2258568"/>
            <a:ext cx="201168" cy="274320"/>
          </a:xfrm>
          <a:prstGeom prst="rightArrow">
            <a:avLst/>
          </a:prstGeom>
          <a:solidFill>
            <a:srgbClr val="9AA3AD"/>
          </a:solidFill>
          <a:ln w="12700">
            <a:solidFill>
              <a:srgbClr val="9AA3AD"/>
            </a:solidFill>
            <a:prstDash val="solid"/>
          </a:ln>
        </p:spPr>
      </p:sp>
      <p:sp>
        <p:nvSpPr>
          <p:cNvPr id="23" name="Shape 21"/>
          <p:cNvSpPr/>
          <p:nvPr/>
        </p:nvSpPr>
        <p:spPr>
          <a:xfrm>
            <a:off x="10012680" y="1737360"/>
            <a:ext cx="1645920" cy="1325880"/>
          </a:xfrm>
          <a:prstGeom prst="roundRect">
            <a:avLst>
              <a:gd name="adj" fmla="val 6897"/>
            </a:avLst>
          </a:prstGeom>
          <a:solidFill>
            <a:srgbClr val="F1F5F2"/>
          </a:solidFill>
          <a:ln w="9525">
            <a:solidFill>
              <a:srgbClr val="C9D6CE"/>
            </a:solidFill>
            <a:prstDash val="solid"/>
          </a:ln>
        </p:spPr>
      </p:sp>
      <p:sp>
        <p:nvSpPr>
          <p:cNvPr id="24" name="Text 22"/>
          <p:cNvSpPr txBox="1"/>
          <p:nvPr/>
        </p:nvSpPr>
        <p:spPr>
          <a:xfrm>
            <a:off x="10085832" y="1828800"/>
            <a:ext cx="1499616" cy="640080"/>
          </a:xfrm>
          <a:prstGeom prst="rect">
            <a:avLst/>
          </a:prstGeom>
          <a:noFill/>
          <a:ln/>
        </p:spPr>
        <p:txBody>
          <a:bodyPr wrap="square" lIns="0" tIns="0" rIns="0" bIns="0" rtlCol="0" anchor="ctr"/>
          <a:lstStyle/>
          <a:p>
            <a:pPr algn="ctr" indent="0" marL="0">
              <a:buNone/>
            </a:pPr>
            <a:r>
              <a:rPr lang="en-US" sz="1500" b="1" dirty="0">
                <a:solidFill>
                  <a:schemeClr val="tx1"/>
                </a:solidFill>
              </a:rPr>
              <a:t>Dashboard</a:t>
            </a:r>
            <a:endParaRPr lang="en-US" sz="1500" dirty="0"/>
          </a:p>
        </p:txBody>
      </p:sp>
      <p:sp>
        <p:nvSpPr>
          <p:cNvPr id="25" name="Text 23"/>
          <p:cNvSpPr txBox="1"/>
          <p:nvPr/>
        </p:nvSpPr>
        <p:spPr>
          <a:xfrm>
            <a:off x="10085832" y="2468880"/>
            <a:ext cx="1499616" cy="502920"/>
          </a:xfrm>
          <a:prstGeom prst="rect">
            <a:avLst/>
          </a:prstGeom>
          <a:noFill/>
          <a:ln/>
        </p:spPr>
        <p:txBody>
          <a:bodyPr wrap="square" lIns="0" tIns="0" rIns="0" bIns="0" rtlCol="0" anchor="t"/>
          <a:lstStyle/>
          <a:p>
            <a:pPr algn="ctr" indent="0" marL="0">
              <a:buNone/>
            </a:pPr>
            <a:r>
              <a:rPr lang="en-US" sz="1200" dirty="0">
                <a:solidFill>
                  <a:srgbClr val="5B6472"/>
                </a:solidFill>
              </a:rPr>
              <a:t>read-only</a:t>
            </a:r>
            <a:endParaRPr lang="en-US" sz="1200" dirty="0"/>
          </a:p>
        </p:txBody>
      </p:sp>
      <p:sp>
        <p:nvSpPr>
          <p:cNvPr id="26" name="Shape 24"/>
          <p:cNvSpPr/>
          <p:nvPr/>
        </p:nvSpPr>
        <p:spPr>
          <a:xfrm>
            <a:off x="548640" y="3566160"/>
            <a:ext cx="3520440" cy="2011680"/>
          </a:xfrm>
          <a:prstGeom prst="roundRect">
            <a:avLst>
              <a:gd name="adj" fmla="val 5455"/>
            </a:avLst>
          </a:prstGeom>
          <a:solidFill>
            <a:srgbClr val="F1F5F2"/>
          </a:solidFill>
          <a:ln w="9525">
            <a:solidFill>
              <a:srgbClr val="DDE5E0"/>
            </a:solidFill>
            <a:prstDash val="solid"/>
          </a:ln>
        </p:spPr>
      </p:sp>
      <p:sp>
        <p:nvSpPr>
          <p:cNvPr id="27" name="Text 25"/>
          <p:cNvSpPr txBox="1"/>
          <p:nvPr/>
        </p:nvSpPr>
        <p:spPr>
          <a:xfrm>
            <a:off x="777240" y="3703320"/>
            <a:ext cx="31089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154</a:t>
            </a:r>
            <a:endParaRPr lang="en-US" sz="3000" dirty="0"/>
          </a:p>
        </p:txBody>
      </p:sp>
      <p:sp>
        <p:nvSpPr>
          <p:cNvPr id="28" name="Text 26"/>
          <p:cNvSpPr txBox="1"/>
          <p:nvPr/>
        </p:nvSpPr>
        <p:spPr>
          <a:xfrm>
            <a:off x="777240" y="4389120"/>
            <a:ext cx="3108960" cy="1097280"/>
          </a:xfrm>
          <a:prstGeom prst="rect">
            <a:avLst/>
          </a:prstGeom>
          <a:noFill/>
          <a:ln/>
        </p:spPr>
        <p:txBody>
          <a:bodyPr wrap="square" lIns="0" tIns="0" rIns="0" bIns="0" rtlCol="0" anchor="t"/>
          <a:lstStyle/>
          <a:p>
            <a:pPr indent="0" marL="0">
              <a:buNone/>
            </a:pPr>
            <a:r>
              <a:rPr lang="en-US" sz="1400" dirty="0">
                <a:solidFill>
                  <a:schemeClr val="tx1"/>
                </a:solidFill>
              </a:rPr>
              <a:t>automated tests: leakage, chronology, embargo, identical rows, provenance, ingestion</a:t>
            </a:r>
            <a:endParaRPr lang="en-US" sz="1400" dirty="0"/>
          </a:p>
        </p:txBody>
      </p:sp>
      <p:sp>
        <p:nvSpPr>
          <p:cNvPr id="29" name="Shape 27"/>
          <p:cNvSpPr/>
          <p:nvPr/>
        </p:nvSpPr>
        <p:spPr>
          <a:xfrm>
            <a:off x="4297680" y="3566160"/>
            <a:ext cx="3520440" cy="2011680"/>
          </a:xfrm>
          <a:prstGeom prst="roundRect">
            <a:avLst>
              <a:gd name="adj" fmla="val 5455"/>
            </a:avLst>
          </a:prstGeom>
          <a:solidFill>
            <a:srgbClr val="F1F5F2"/>
          </a:solidFill>
          <a:ln w="9525">
            <a:solidFill>
              <a:srgbClr val="DDE5E0"/>
            </a:solidFill>
            <a:prstDash val="solid"/>
          </a:ln>
        </p:spPr>
      </p:sp>
      <p:sp>
        <p:nvSpPr>
          <p:cNvPr id="30" name="Text 28"/>
          <p:cNvSpPr txBox="1"/>
          <p:nvPr/>
        </p:nvSpPr>
        <p:spPr>
          <a:xfrm>
            <a:off x="4526280" y="3703320"/>
            <a:ext cx="31089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 gates</a:t>
            </a:r>
            <a:endParaRPr lang="en-US" sz="3000" dirty="0"/>
          </a:p>
        </p:txBody>
      </p:sp>
      <p:sp>
        <p:nvSpPr>
          <p:cNvPr id="31" name="Text 29"/>
          <p:cNvSpPr txBox="1"/>
          <p:nvPr/>
        </p:nvSpPr>
        <p:spPr>
          <a:xfrm>
            <a:off x="4526280" y="4389120"/>
            <a:ext cx="3108960" cy="1097280"/>
          </a:xfrm>
          <a:prstGeom prst="rect">
            <a:avLst/>
          </a:prstGeom>
          <a:noFill/>
          <a:ln/>
        </p:spPr>
        <p:txBody>
          <a:bodyPr wrap="square" lIns="0" tIns="0" rIns="0" bIns="0" rtlCol="0" anchor="t"/>
          <a:lstStyle/>
          <a:p>
            <a:pPr indent="0" marL="0">
              <a:buNone/>
            </a:pPr>
            <a:r>
              <a:rPr lang="en-US" sz="1400" dirty="0">
                <a:solidFill>
                  <a:schemeClr val="tx1"/>
                </a:solidFill>
              </a:rPr>
              <a:t>pipeline exits with FAIL rather than publish a broken comparison</a:t>
            </a:r>
            <a:endParaRPr lang="en-US" sz="1400" dirty="0"/>
          </a:p>
        </p:txBody>
      </p:sp>
      <p:sp>
        <p:nvSpPr>
          <p:cNvPr id="32" name="Shape 30"/>
          <p:cNvSpPr/>
          <p:nvPr/>
        </p:nvSpPr>
        <p:spPr>
          <a:xfrm>
            <a:off x="8046720" y="3566160"/>
            <a:ext cx="3520440" cy="2011680"/>
          </a:xfrm>
          <a:prstGeom prst="roundRect">
            <a:avLst>
              <a:gd name="adj" fmla="val 5455"/>
            </a:avLst>
          </a:prstGeom>
          <a:solidFill>
            <a:srgbClr val="F1F5F2"/>
          </a:solidFill>
          <a:ln w="9525">
            <a:solidFill>
              <a:srgbClr val="DDE5E0"/>
            </a:solidFill>
            <a:prstDash val="solid"/>
          </a:ln>
        </p:spPr>
      </p:sp>
      <p:sp>
        <p:nvSpPr>
          <p:cNvPr id="33" name="Text 31"/>
          <p:cNvSpPr txBox="1"/>
          <p:nvPr/>
        </p:nvSpPr>
        <p:spPr>
          <a:xfrm>
            <a:off x="8275320" y="3703320"/>
            <a:ext cx="310896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Byte-identical</a:t>
            </a:r>
            <a:endParaRPr lang="en-US" sz="3000" dirty="0"/>
          </a:p>
        </p:txBody>
      </p:sp>
      <p:sp>
        <p:nvSpPr>
          <p:cNvPr id="34" name="Text 32"/>
          <p:cNvSpPr txBox="1"/>
          <p:nvPr/>
        </p:nvSpPr>
        <p:spPr>
          <a:xfrm>
            <a:off x="8275320" y="4389120"/>
            <a:ext cx="3108960" cy="1097280"/>
          </a:xfrm>
          <a:prstGeom prst="rect">
            <a:avLst/>
          </a:prstGeom>
          <a:noFill/>
          <a:ln/>
        </p:spPr>
        <p:txBody>
          <a:bodyPr wrap="square" lIns="0" tIns="0" rIns="0" bIns="0" rtlCol="0" anchor="t"/>
          <a:lstStyle/>
          <a:p>
            <a:pPr indent="0" marL="0">
              <a:buNone/>
            </a:pPr>
            <a:r>
              <a:rPr lang="en-US" sz="1400" dirty="0">
                <a:solidFill>
                  <a:schemeClr val="tx1"/>
                </a:solidFill>
              </a:rPr>
              <a:t>rebuild from the government files on Python 3.11 and 3.12; CI on every push</a:t>
            </a:r>
            <a:endParaRPr lang="en-US" sz="14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model is chosen before the test data is ever scored</a:t>
            </a:r>
            <a:endParaRPr lang="en-US" sz="3000" dirty="0"/>
          </a:p>
        </p:txBody>
      </p:sp>
      <p:sp>
        <p:nvSpPr>
          <p:cNvPr id="3" name="Shape 1"/>
          <p:cNvSpPr/>
          <p:nvPr/>
        </p:nvSpPr>
        <p:spPr>
          <a:xfrm>
            <a:off x="548640" y="1463040"/>
            <a:ext cx="2377440" cy="685800"/>
          </a:xfrm>
          <a:prstGeom prst="rect">
            <a:avLst/>
          </a:prstGeom>
          <a:solidFill>
            <a:srgbClr val="D7E7DD"/>
          </a:solidFill>
          <a:ln w="25400">
            <a:solidFill>
              <a:srgbClr val="FFFFFF"/>
            </a:solidFill>
            <a:prstDash val="solid"/>
          </a:ln>
        </p:spPr>
      </p:sp>
      <p:sp>
        <p:nvSpPr>
          <p:cNvPr id="4" name="Text 2"/>
          <p:cNvSpPr txBox="1"/>
          <p:nvPr/>
        </p:nvSpPr>
        <p:spPr>
          <a:xfrm>
            <a:off x="640080" y="146304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Fit only</a:t>
            </a:r>
            <a:endParaRPr lang="en-US" sz="1400" dirty="0"/>
          </a:p>
        </p:txBody>
      </p:sp>
      <p:sp>
        <p:nvSpPr>
          <p:cNvPr id="5" name="Shape 3"/>
          <p:cNvSpPr/>
          <p:nvPr/>
        </p:nvSpPr>
        <p:spPr>
          <a:xfrm>
            <a:off x="2926080" y="1463040"/>
            <a:ext cx="4023360" cy="685800"/>
          </a:xfrm>
          <a:prstGeom prst="rect">
            <a:avLst/>
          </a:prstGeom>
          <a:solidFill>
            <a:srgbClr val="8CC0A4"/>
          </a:solidFill>
          <a:ln w="25400">
            <a:solidFill>
              <a:srgbClr val="FFFFFF"/>
            </a:solidFill>
            <a:prstDash val="solid"/>
          </a:ln>
        </p:spPr>
      </p:sp>
      <p:sp>
        <p:nvSpPr>
          <p:cNvPr id="6" name="Text 4"/>
          <p:cNvSpPr txBox="1"/>
          <p:nvPr/>
        </p:nvSpPr>
        <p:spPr>
          <a:xfrm>
            <a:off x="3017520" y="1463040"/>
            <a:ext cx="3840480" cy="685800"/>
          </a:xfrm>
          <a:prstGeom prst="rect">
            <a:avLst/>
          </a:prstGeom>
          <a:noFill/>
          <a:ln/>
        </p:spPr>
        <p:txBody>
          <a:bodyPr wrap="square" lIns="0" tIns="0" rIns="0" bIns="0" rtlCol="0" anchor="ctr"/>
          <a:lstStyle/>
          <a:p>
            <a:pPr indent="0" marL="0">
              <a:buNone/>
            </a:pPr>
            <a:r>
              <a:rPr lang="en-US" sz="1400" b="1" dirty="0">
                <a:solidFill>
                  <a:schemeClr val="tx1"/>
                </a:solidFill>
              </a:rPr>
              <a:t>4 cross-validation folds — choose the model</a:t>
            </a:r>
            <a:endParaRPr lang="en-US" sz="1400" dirty="0"/>
          </a:p>
        </p:txBody>
      </p:sp>
      <p:sp>
        <p:nvSpPr>
          <p:cNvPr id="7" name="Shape 5"/>
          <p:cNvSpPr/>
          <p:nvPr/>
        </p:nvSpPr>
        <p:spPr>
          <a:xfrm>
            <a:off x="6949440" y="1463040"/>
            <a:ext cx="2651760" cy="685800"/>
          </a:xfrm>
          <a:prstGeom prst="rect">
            <a:avLst/>
          </a:prstGeom>
          <a:solidFill>
            <a:srgbClr val="1F6F4A"/>
          </a:solidFill>
          <a:ln w="25400">
            <a:solidFill>
              <a:srgbClr val="FFFFFF"/>
            </a:solidFill>
            <a:prstDash val="solid"/>
          </a:ln>
        </p:spPr>
      </p:sp>
      <p:sp>
        <p:nvSpPr>
          <p:cNvPr id="8" name="Text 6"/>
          <p:cNvSpPr txBox="1"/>
          <p:nvPr/>
        </p:nvSpPr>
        <p:spPr>
          <a:xfrm>
            <a:off x="7040880" y="1463040"/>
            <a:ext cx="2468880" cy="685800"/>
          </a:xfrm>
          <a:prstGeom prst="rect">
            <a:avLst/>
          </a:prstGeom>
          <a:noFill/>
          <a:ln/>
        </p:spPr>
        <p:txBody>
          <a:bodyPr wrap="square" lIns="0" tIns="0" rIns="0" bIns="0" rtlCol="0" anchor="ctr"/>
          <a:lstStyle/>
          <a:p>
            <a:pPr indent="0" marL="0">
              <a:buNone/>
            </a:pPr>
            <a:r>
              <a:rPr lang="en-US" sz="1400" b="1" dirty="0">
                <a:solidFill>
                  <a:schemeClr val="bg1"/>
                </a:solidFill>
              </a:rPr>
              <a:t>Untouched test, scored once</a:t>
            </a:r>
            <a:endParaRPr lang="en-US" sz="1400" dirty="0"/>
          </a:p>
        </p:txBody>
      </p:sp>
      <p:sp>
        <p:nvSpPr>
          <p:cNvPr id="9" name="Text 7"/>
          <p:cNvSpPr txBox="1"/>
          <p:nvPr/>
        </p:nvSpPr>
        <p:spPr>
          <a:xfrm>
            <a:off x="548640" y="2212848"/>
            <a:ext cx="6400800" cy="320040"/>
          </a:xfrm>
          <a:prstGeom prst="rect">
            <a:avLst/>
          </a:prstGeom>
          <a:noFill/>
          <a:ln/>
        </p:spPr>
        <p:txBody>
          <a:bodyPr wrap="square" lIns="0" tIns="0" rIns="0" bIns="0" rtlCol="0" anchor="ctr"/>
          <a:lstStyle/>
          <a:p>
            <a:pPr indent="0" marL="0">
              <a:buNone/>
            </a:pPr>
            <a:r>
              <a:rPr lang="en-US" sz="1300" dirty="0">
                <a:solidFill>
                  <a:srgbClr val="5B6472"/>
                </a:solidFill>
              </a:rPr>
              <a:t>2009 → early 2014: development period</a:t>
            </a:r>
            <a:endParaRPr lang="en-US" sz="1300" dirty="0"/>
          </a:p>
        </p:txBody>
      </p:sp>
      <p:sp>
        <p:nvSpPr>
          <p:cNvPr id="10" name="Text 8"/>
          <p:cNvSpPr txBox="1"/>
          <p:nvPr/>
        </p:nvSpPr>
        <p:spPr>
          <a:xfrm>
            <a:off x="6949440" y="2212848"/>
            <a:ext cx="2651760" cy="320040"/>
          </a:xfrm>
          <a:prstGeom prst="rect">
            <a:avLst/>
          </a:prstGeom>
          <a:noFill/>
          <a:ln/>
        </p:spPr>
        <p:txBody>
          <a:bodyPr wrap="square" lIns="0" tIns="0" rIns="0" bIns="0" rtlCol="0" anchor="ctr"/>
          <a:lstStyle/>
          <a:p>
            <a:pPr indent="0" marL="0">
              <a:buNone/>
            </a:pPr>
            <a:r>
              <a:rPr lang="en-US" sz="1300" dirty="0">
                <a:solidFill>
                  <a:srgbClr val="5B6472"/>
                </a:solidFill>
              </a:rPr>
              <a:t>Feb 2014 → Apr 2015</a:t>
            </a:r>
            <a:endParaRPr lang="en-US" sz="1300" dirty="0"/>
          </a:p>
        </p:txBody>
      </p:sp>
      <p:sp>
        <p:nvSpPr>
          <p:cNvPr id="11" name="Text 9"/>
          <p:cNvSpPr txBox="1"/>
          <p:nvPr/>
        </p:nvSpPr>
        <p:spPr>
          <a:xfrm>
            <a:off x="9784080" y="1463040"/>
            <a:ext cx="1828800" cy="685800"/>
          </a:xfrm>
          <a:prstGeom prst="rect">
            <a:avLst/>
          </a:prstGeom>
          <a:noFill/>
          <a:ln/>
        </p:spPr>
        <p:txBody>
          <a:bodyPr wrap="square" lIns="0" tIns="0" rIns="0" bIns="0" rtlCol="0" anchor="ctr"/>
          <a:lstStyle/>
          <a:p>
            <a:pPr indent="0" marL="0">
              <a:buNone/>
            </a:pPr>
            <a:r>
              <a:rPr lang="en-US" sz="1300" b="1" dirty="0">
                <a:solidFill>
                  <a:schemeClr val="accent1"/>
                </a:solidFill>
              </a:rPr>
              <a:t>~200 unseen days per horizon</a:t>
            </a:r>
            <a:endParaRPr lang="en-US" sz="1300" dirty="0"/>
          </a:p>
        </p:txBody>
      </p:sp>
      <p:sp>
        <p:nvSpPr>
          <p:cNvPr id="12" name="Shape 10"/>
          <p:cNvSpPr/>
          <p:nvPr/>
        </p:nvSpPr>
        <p:spPr>
          <a:xfrm>
            <a:off x="548640" y="2788920"/>
            <a:ext cx="2103120" cy="1005840"/>
          </a:xfrm>
          <a:prstGeom prst="roundRect">
            <a:avLst>
              <a:gd name="adj" fmla="val 10909"/>
            </a:avLst>
          </a:prstGeom>
          <a:solidFill>
            <a:srgbClr val="F1F5F2"/>
          </a:solidFill>
          <a:ln w="9525">
            <a:solidFill>
              <a:srgbClr val="DDE5E0"/>
            </a:solidFill>
            <a:prstDash val="solid"/>
          </a:ln>
        </p:spPr>
      </p:sp>
      <p:sp>
        <p:nvSpPr>
          <p:cNvPr id="13" name="Text 11"/>
          <p:cNvSpPr txBox="1"/>
          <p:nvPr/>
        </p:nvSpPr>
        <p:spPr>
          <a:xfrm>
            <a:off x="685800" y="2852928"/>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Naive</a:t>
            </a:r>
            <a:endParaRPr lang="en-US" sz="1600" dirty="0"/>
          </a:p>
        </p:txBody>
      </p:sp>
      <p:sp>
        <p:nvSpPr>
          <p:cNvPr id="14" name="Text 12"/>
          <p:cNvSpPr txBox="1"/>
          <p:nvPr/>
        </p:nvSpPr>
        <p:spPr>
          <a:xfrm>
            <a:off x="685800" y="3264408"/>
            <a:ext cx="1828800" cy="411480"/>
          </a:xfrm>
          <a:prstGeom prst="rect">
            <a:avLst/>
          </a:prstGeom>
          <a:noFill/>
          <a:ln/>
        </p:spPr>
        <p:txBody>
          <a:bodyPr wrap="square" lIns="0" tIns="0" rIns="0" bIns="0" rtlCol="0" anchor="ctr"/>
          <a:lstStyle/>
          <a:p>
            <a:pPr indent="0" marL="0">
              <a:buNone/>
            </a:pPr>
            <a:r>
              <a:rPr lang="en-US" sz="1300" dirty="0">
                <a:solidFill>
                  <a:srgbClr val="5B6472"/>
                </a:solidFill>
              </a:rPr>
              <a:t>tomorrow = today</a:t>
            </a:r>
            <a:endParaRPr lang="en-US" sz="1300" dirty="0"/>
          </a:p>
        </p:txBody>
      </p:sp>
      <p:sp>
        <p:nvSpPr>
          <p:cNvPr id="15" name="Shape 13"/>
          <p:cNvSpPr/>
          <p:nvPr/>
        </p:nvSpPr>
        <p:spPr>
          <a:xfrm>
            <a:off x="2807208" y="2788920"/>
            <a:ext cx="2103120" cy="1005840"/>
          </a:xfrm>
          <a:prstGeom prst="roundRect">
            <a:avLst>
              <a:gd name="adj" fmla="val 10909"/>
            </a:avLst>
          </a:prstGeom>
          <a:solidFill>
            <a:srgbClr val="F1F5F2"/>
          </a:solidFill>
          <a:ln w="9525">
            <a:solidFill>
              <a:srgbClr val="DDE5E0"/>
            </a:solidFill>
            <a:prstDash val="solid"/>
          </a:ln>
        </p:spPr>
      </p:sp>
      <p:sp>
        <p:nvSpPr>
          <p:cNvPr id="16" name="Text 14"/>
          <p:cNvSpPr txBox="1"/>
          <p:nvPr/>
        </p:nvSpPr>
        <p:spPr>
          <a:xfrm>
            <a:off x="2944368" y="2852928"/>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ARIMA</a:t>
            </a:r>
            <a:endParaRPr lang="en-US" sz="1600" dirty="0"/>
          </a:p>
        </p:txBody>
      </p:sp>
      <p:sp>
        <p:nvSpPr>
          <p:cNvPr id="17" name="Text 15"/>
          <p:cNvSpPr txBox="1"/>
          <p:nvPr/>
        </p:nvSpPr>
        <p:spPr>
          <a:xfrm>
            <a:off x="2944368" y="3264408"/>
            <a:ext cx="1828800" cy="411480"/>
          </a:xfrm>
          <a:prstGeom prst="rect">
            <a:avLst/>
          </a:prstGeom>
          <a:noFill/>
          <a:ln/>
        </p:spPr>
        <p:txBody>
          <a:bodyPr wrap="square" lIns="0" tIns="0" rIns="0" bIns="0" rtlCol="0" anchor="ctr"/>
          <a:lstStyle/>
          <a:p>
            <a:pPr indent="0" marL="0">
              <a:buNone/>
            </a:pPr>
            <a:r>
              <a:rPr lang="en-US" sz="1300" dirty="0">
                <a:solidFill>
                  <a:srgbClr val="5B6472"/>
                </a:solidFill>
              </a:rPr>
              <a:t>classical time series</a:t>
            </a:r>
            <a:endParaRPr lang="en-US" sz="1300" dirty="0"/>
          </a:p>
        </p:txBody>
      </p:sp>
      <p:sp>
        <p:nvSpPr>
          <p:cNvPr id="18" name="Shape 16"/>
          <p:cNvSpPr/>
          <p:nvPr/>
        </p:nvSpPr>
        <p:spPr>
          <a:xfrm>
            <a:off x="5065776" y="2788920"/>
            <a:ext cx="2103120" cy="1005840"/>
          </a:xfrm>
          <a:prstGeom prst="roundRect">
            <a:avLst>
              <a:gd name="adj" fmla="val 10909"/>
            </a:avLst>
          </a:prstGeom>
          <a:solidFill>
            <a:srgbClr val="F1F5F2"/>
          </a:solidFill>
          <a:ln w="9525">
            <a:solidFill>
              <a:srgbClr val="DDE5E0"/>
            </a:solidFill>
            <a:prstDash val="solid"/>
          </a:ln>
        </p:spPr>
      </p:sp>
      <p:sp>
        <p:nvSpPr>
          <p:cNvPr id="19" name="Text 17"/>
          <p:cNvSpPr txBox="1"/>
          <p:nvPr/>
        </p:nvSpPr>
        <p:spPr>
          <a:xfrm>
            <a:off x="5202936" y="2852928"/>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Random Forest</a:t>
            </a:r>
            <a:endParaRPr lang="en-US" sz="1600" dirty="0"/>
          </a:p>
        </p:txBody>
      </p:sp>
      <p:sp>
        <p:nvSpPr>
          <p:cNvPr id="20" name="Text 18"/>
          <p:cNvSpPr txBox="1"/>
          <p:nvPr/>
        </p:nvSpPr>
        <p:spPr>
          <a:xfrm>
            <a:off x="5202936" y="3264408"/>
            <a:ext cx="1828800" cy="411480"/>
          </a:xfrm>
          <a:prstGeom prst="rect">
            <a:avLst/>
          </a:prstGeom>
          <a:noFill/>
          <a:ln/>
        </p:spPr>
        <p:txBody>
          <a:bodyPr wrap="square" lIns="0" tIns="0" rIns="0" bIns="0" rtlCol="0" anchor="ctr"/>
          <a:lstStyle/>
          <a:p>
            <a:pPr indent="0" marL="0">
              <a:buNone/>
            </a:pPr>
            <a:r>
              <a:rPr lang="en-US" sz="1300" dirty="0">
                <a:solidFill>
                  <a:srgbClr val="5B6472"/>
                </a:solidFill>
              </a:rPr>
              <a:t>tabular ML</a:t>
            </a:r>
            <a:endParaRPr lang="en-US" sz="1300" dirty="0"/>
          </a:p>
        </p:txBody>
      </p:sp>
      <p:sp>
        <p:nvSpPr>
          <p:cNvPr id="21" name="Shape 19"/>
          <p:cNvSpPr/>
          <p:nvPr/>
        </p:nvSpPr>
        <p:spPr>
          <a:xfrm>
            <a:off x="7324344" y="2788920"/>
            <a:ext cx="2103120" cy="1005840"/>
          </a:xfrm>
          <a:prstGeom prst="roundRect">
            <a:avLst>
              <a:gd name="adj" fmla="val 10909"/>
            </a:avLst>
          </a:prstGeom>
          <a:solidFill>
            <a:srgbClr val="F1F5F2"/>
          </a:solidFill>
          <a:ln w="9525">
            <a:solidFill>
              <a:srgbClr val="DDE5E0"/>
            </a:solidFill>
            <a:prstDash val="solid"/>
          </a:ln>
        </p:spPr>
      </p:sp>
      <p:sp>
        <p:nvSpPr>
          <p:cNvPr id="22" name="Text 20"/>
          <p:cNvSpPr txBox="1"/>
          <p:nvPr/>
        </p:nvSpPr>
        <p:spPr>
          <a:xfrm>
            <a:off x="7461504" y="2852928"/>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Gradient Boosting</a:t>
            </a:r>
            <a:endParaRPr lang="en-US" sz="1600" dirty="0"/>
          </a:p>
        </p:txBody>
      </p:sp>
      <p:sp>
        <p:nvSpPr>
          <p:cNvPr id="23" name="Text 21"/>
          <p:cNvSpPr txBox="1"/>
          <p:nvPr/>
        </p:nvSpPr>
        <p:spPr>
          <a:xfrm>
            <a:off x="7461504" y="3264408"/>
            <a:ext cx="1828800" cy="411480"/>
          </a:xfrm>
          <a:prstGeom prst="rect">
            <a:avLst/>
          </a:prstGeom>
          <a:noFill/>
          <a:ln/>
        </p:spPr>
        <p:txBody>
          <a:bodyPr wrap="square" lIns="0" tIns="0" rIns="0" bIns="0" rtlCol="0" anchor="ctr"/>
          <a:lstStyle/>
          <a:p>
            <a:pPr indent="0" marL="0">
              <a:buNone/>
            </a:pPr>
            <a:r>
              <a:rPr lang="en-US" sz="1300" dirty="0">
                <a:solidFill>
                  <a:srgbClr val="5B6472"/>
                </a:solidFill>
              </a:rPr>
              <a:t>tabular ML</a:t>
            </a:r>
            <a:endParaRPr lang="en-US" sz="1300" dirty="0"/>
          </a:p>
        </p:txBody>
      </p:sp>
      <p:sp>
        <p:nvSpPr>
          <p:cNvPr id="24" name="Shape 22"/>
          <p:cNvSpPr/>
          <p:nvPr/>
        </p:nvSpPr>
        <p:spPr>
          <a:xfrm>
            <a:off x="9582912" y="2788920"/>
            <a:ext cx="2103120" cy="1005840"/>
          </a:xfrm>
          <a:prstGeom prst="roundRect">
            <a:avLst>
              <a:gd name="adj" fmla="val 10909"/>
            </a:avLst>
          </a:prstGeom>
          <a:solidFill>
            <a:srgbClr val="F1F5F2"/>
          </a:solidFill>
          <a:ln w="9525">
            <a:solidFill>
              <a:srgbClr val="DDE5E0"/>
            </a:solidFill>
            <a:prstDash val="solid"/>
          </a:ln>
        </p:spPr>
      </p:sp>
      <p:sp>
        <p:nvSpPr>
          <p:cNvPr id="25" name="Text 23"/>
          <p:cNvSpPr txBox="1"/>
          <p:nvPr/>
        </p:nvSpPr>
        <p:spPr>
          <a:xfrm>
            <a:off x="9720072" y="2852928"/>
            <a:ext cx="1828800" cy="411480"/>
          </a:xfrm>
          <a:prstGeom prst="rect">
            <a:avLst/>
          </a:prstGeom>
          <a:noFill/>
          <a:ln/>
        </p:spPr>
        <p:txBody>
          <a:bodyPr wrap="square" lIns="0" tIns="0" rIns="0" bIns="0" rtlCol="0" anchor="ctr"/>
          <a:lstStyle/>
          <a:p>
            <a:pPr indent="0" marL="0">
              <a:buNone/>
            </a:pPr>
            <a:r>
              <a:rPr lang="en-US" sz="1600" b="1" dirty="0">
                <a:solidFill>
                  <a:schemeClr val="tx1"/>
                </a:solidFill>
              </a:rPr>
              <a:t>RF-delta</a:t>
            </a:r>
            <a:endParaRPr lang="en-US" sz="1600" dirty="0"/>
          </a:p>
        </p:txBody>
      </p:sp>
      <p:sp>
        <p:nvSpPr>
          <p:cNvPr id="26" name="Text 24"/>
          <p:cNvSpPr txBox="1"/>
          <p:nvPr/>
        </p:nvSpPr>
        <p:spPr>
          <a:xfrm>
            <a:off x="9720072" y="3264408"/>
            <a:ext cx="1828800" cy="411480"/>
          </a:xfrm>
          <a:prstGeom prst="rect">
            <a:avLst/>
          </a:prstGeom>
          <a:noFill/>
          <a:ln/>
        </p:spPr>
        <p:txBody>
          <a:bodyPr wrap="square" lIns="0" tIns="0" rIns="0" bIns="0" rtlCol="0" anchor="ctr"/>
          <a:lstStyle/>
          <a:p>
            <a:pPr indent="0" marL="0">
              <a:buNone/>
            </a:pPr>
            <a:r>
              <a:rPr lang="en-US" sz="1300" dirty="0">
                <a:solidFill>
                  <a:srgbClr val="5B6472"/>
                </a:solidFill>
              </a:rPr>
              <a:t>predicts the change</a:t>
            </a:r>
            <a:endParaRPr lang="en-US" sz="1300" dirty="0"/>
          </a:p>
        </p:txBody>
      </p:sp>
      <p:sp>
        <p:nvSpPr>
          <p:cNvPr id="27" name="Text 25"/>
          <p:cNvSpPr txBox="1"/>
          <p:nvPr/>
        </p:nvSpPr>
        <p:spPr>
          <a:xfrm>
            <a:off x="548640" y="4069080"/>
            <a:ext cx="11091672" cy="18288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Selection rule written in advance: lowest mean RMSE across the four folds.</a:t>
            </a:r>
            <a:endParaRPr lang="en-US" sz="1600" dirty="0"/>
          </a:p>
          <a:p>
            <a:pPr marL="342900" indent="-342900">
              <a:spcAft>
                <a:spcPts val="800"/>
              </a:spcAft>
              <a:buSzPct val="100000"/>
              <a:buChar char="•"/>
            </a:pPr>
            <a:r>
              <a:rPr lang="en-US" sz="1600" dirty="0">
                <a:solidFill>
                  <a:schemeClr val="tx1"/>
                </a:solidFill>
              </a:rPr>
              <a:t>Every model scored on identical days; only days the mandi really reported are scored.</a:t>
            </a:r>
            <a:endParaRPr lang="en-US" sz="1600" dirty="0"/>
          </a:p>
          <a:p>
            <a:pPr marL="342900" indent="-342900">
              <a:spcAft>
                <a:spcPts val="800"/>
              </a:spcAft>
              <a:buSzPct val="100000"/>
              <a:buChar char="•"/>
            </a:pPr>
            <a:r>
              <a:rPr lang="en-US" sz="1600" dirty="0">
                <a:solidFill>
                  <a:schemeClr val="tx1"/>
                </a:solidFill>
              </a:rPr>
              <a:t>Training rows whose target date crosses a boundary are removed (embargo).</a:t>
            </a:r>
            <a:endParaRPr lang="en-US" sz="1600" dirty="0"/>
          </a:p>
          <a:p>
            <a:pPr marL="342900" indent="-342900">
              <a:spcAft>
                <a:spcPts val="800"/>
              </a:spcAft>
              <a:buSzPct val="100000"/>
              <a:buChar char="•"/>
            </a:pPr>
            <a:r>
              <a:rPr lang="en-US" sz="1600" dirty="0">
                <a:solidFill>
                  <a:schemeClr val="tx1"/>
                </a:solidFill>
              </a:rPr>
              <a:t>Significance: Diebold–Mariano tests vs Naive, Holm-adjusted.</a:t>
            </a:r>
            <a:endParaRPr lang="en-US" sz="16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model chosen in advance never beat “same as today”</a:t>
            </a:r>
            <a:endParaRPr lang="en-US" sz="3000" dirty="0"/>
          </a:p>
        </p:txBody>
      </p:sp>
      <p:graphicFrame>
        <p:nvGraphicFramePr>
          <p:cNvPr id="3" name="Chart 0" descr=""/>
          <p:cNvGraphicFramePr/>
          <p:nvPr/>
        </p:nvGraphicFramePr>
        <p:xfrm>
          <a:off x="548640" y="1325880"/>
          <a:ext cx="6858000" cy="4343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26680" y="1325880"/>
            <a:ext cx="3913632" cy="4343400"/>
          </a:xfrm>
          <a:prstGeom prst="roundRect">
            <a:avLst>
              <a:gd name="adj" fmla="val 2804"/>
            </a:avLst>
          </a:prstGeom>
          <a:solidFill>
            <a:srgbClr val="F1F5F2"/>
          </a:solidFill>
          <a:ln w="9525">
            <a:solidFill>
              <a:srgbClr val="DDE5E0"/>
            </a:solidFill>
            <a:prstDash val="solid"/>
          </a:ln>
        </p:spPr>
      </p:sp>
      <p:sp>
        <p:nvSpPr>
          <p:cNvPr id="5" name="Text 2"/>
          <p:cNvSpPr txBox="1"/>
          <p:nvPr/>
        </p:nvSpPr>
        <p:spPr>
          <a:xfrm>
            <a:off x="7955280" y="1463040"/>
            <a:ext cx="356616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 of 48</a:t>
            </a:r>
            <a:endParaRPr lang="en-US" sz="4000" dirty="0"/>
          </a:p>
        </p:txBody>
      </p:sp>
      <p:sp>
        <p:nvSpPr>
          <p:cNvPr id="6" name="Text 3"/>
          <p:cNvSpPr txBox="1"/>
          <p:nvPr/>
        </p:nvSpPr>
        <p:spPr>
          <a:xfrm>
            <a:off x="7955280" y="2331720"/>
            <a:ext cx="3566160" cy="685800"/>
          </a:xfrm>
          <a:prstGeom prst="rect">
            <a:avLst/>
          </a:prstGeom>
          <a:noFill/>
          <a:ln/>
        </p:spPr>
        <p:txBody>
          <a:bodyPr wrap="square" lIns="0" tIns="0" rIns="0" bIns="0" rtlCol="0" anchor="t"/>
          <a:lstStyle/>
          <a:p>
            <a:pPr indent="0" marL="0">
              <a:buNone/>
            </a:pPr>
            <a:r>
              <a:rPr lang="en-US" sz="1400" dirty="0">
                <a:solidFill>
                  <a:schemeClr val="tx1"/>
                </a:solidFill>
              </a:rPr>
              <a:t>significance tests found any model more accurate than Naive</a:t>
            </a:r>
            <a:endParaRPr lang="en-US" sz="1400" dirty="0"/>
          </a:p>
        </p:txBody>
      </p:sp>
      <p:sp>
        <p:nvSpPr>
          <p:cNvPr id="7" name="Text 4"/>
          <p:cNvSpPr txBox="1"/>
          <p:nvPr/>
        </p:nvSpPr>
        <p:spPr>
          <a:xfrm>
            <a:off x="7955280" y="2926080"/>
            <a:ext cx="3566160" cy="868680"/>
          </a:xfrm>
          <a:prstGeom prst="rect">
            <a:avLst/>
          </a:prstGeom>
          <a:noFill/>
          <a:ln/>
        </p:spPr>
        <p:txBody>
          <a:bodyPr wrap="square" lIns="0" tIns="0" rIns="0" bIns="0" rtlCol="0" anchor="ctr"/>
          <a:lstStyle/>
          <a:p>
            <a:pPr indent="0" marL="0">
              <a:buNone/>
            </a:pPr>
            <a:r>
              <a:rPr lang="en-US" sz="4000" b="1" dirty="0">
                <a:solidFill>
                  <a:srgbClr val="C27C2C"/>
                </a:solidFill>
                <a:latin typeface="Cambria" pitchFamily="34" charset="0"/>
                <a:ea typeface="Cambria" pitchFamily="34" charset="-122"/>
                <a:cs typeface="Cambria" pitchFamily="34" charset="-120"/>
              </a:rPr>
              <a:t>p = 0.505</a:t>
            </a:r>
            <a:endParaRPr lang="en-US" sz="4000" dirty="0"/>
          </a:p>
        </p:txBody>
      </p:sp>
      <p:sp>
        <p:nvSpPr>
          <p:cNvPr id="8" name="Text 5"/>
          <p:cNvSpPr txBox="1"/>
          <p:nvPr/>
        </p:nvSpPr>
        <p:spPr>
          <a:xfrm>
            <a:off x="7955280" y="3794760"/>
            <a:ext cx="3566160" cy="685800"/>
          </a:xfrm>
          <a:prstGeom prst="rect">
            <a:avLst/>
          </a:prstGeom>
          <a:noFill/>
          <a:ln/>
        </p:spPr>
        <p:txBody>
          <a:bodyPr wrap="square" lIns="0" tIns="0" rIns="0" bIns="0" rtlCol="0" anchor="t"/>
          <a:lstStyle/>
          <a:p>
            <a:pPr indent="0" marL="0">
              <a:buNone/>
            </a:pPr>
            <a:r>
              <a:rPr lang="en-US" sz="1400" dirty="0">
                <a:solidFill>
                  <a:schemeClr val="tx1"/>
                </a:solidFill>
              </a:rPr>
              <a:t>for our first version's “+7.33%” — it came from picking the winner on the test set</a:t>
            </a:r>
            <a:endParaRPr lang="en-US" sz="1400" dirty="0"/>
          </a:p>
        </p:txBody>
      </p:sp>
      <p:sp>
        <p:nvSpPr>
          <p:cNvPr id="9" name="Text 6"/>
          <p:cNvSpPr txBox="1"/>
          <p:nvPr/>
        </p:nvSpPr>
        <p:spPr>
          <a:xfrm>
            <a:off x="7955280" y="4526280"/>
            <a:ext cx="3566160" cy="822960"/>
          </a:xfrm>
          <a:prstGeom prst="rect">
            <a:avLst/>
          </a:prstGeom>
          <a:noFill/>
          <a:ln/>
        </p:spPr>
        <p:txBody>
          <a:bodyPr wrap="square" lIns="0" tIns="0" rIns="0" bIns="0" rtlCol="0" anchor="t"/>
          <a:lstStyle/>
          <a:p>
            <a:pPr indent="0" marL="0">
              <a:buNone/>
            </a:pPr>
            <a:r>
              <a:rPr lang="en-US" sz="1400" dirty="0">
                <a:solidFill>
                  <a:schemeClr val="tx1"/>
                </a:solidFill>
              </a:rPr>
              <a:t>Naive also had the lowest error on an ordinary day (MAE) at all six.</a:t>
            </a:r>
            <a:endParaRPr lang="en-US" sz="1400" dirty="0"/>
          </a:p>
        </p:txBody>
      </p:sp>
      <p:sp>
        <p:nvSpPr>
          <p:cNvPr id="10" name="Text 7"/>
          <p:cNvSpPr txBox="1"/>
          <p:nvPr/>
        </p:nvSpPr>
        <p:spPr>
          <a:xfrm>
            <a:off x="548640" y="6126480"/>
            <a:ext cx="11091672" cy="274320"/>
          </a:xfrm>
          <a:prstGeom prst="rect">
            <a:avLst/>
          </a:prstGeom>
          <a:noFill/>
          <a:ln/>
        </p:spPr>
        <p:txBody>
          <a:bodyPr wrap="square" lIns="0" tIns="0" rIns="0" bIns="0" rtlCol="0" anchor="ctr"/>
          <a:lstStyle/>
          <a:p>
            <a:pPr indent="0" marL="0">
              <a:buNone/>
            </a:pPr>
            <a:r>
              <a:rPr lang="en-US" sz="1000" i="1" dirty="0">
                <a:solidFill>
                  <a:srgbClr val="5B6472"/>
                </a:solidFill>
              </a:rPr>
              <a:t>Onion: CV chose Naive at all horizons. Tomato: 1d RF-delta −5.66%, 2d ARIMA −0.53%, 3d ARIMA −0.31% vs Naive. Files: outputs/best_model.csv, outputs/experiments/dm_test.csv.</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No user evidence yet — this is exactly how we will get it</a:t>
            </a:r>
            <a:endParaRPr lang="en-US" sz="3000" dirty="0"/>
          </a:p>
        </p:txBody>
      </p:sp>
      <p:sp>
        <p:nvSpPr>
          <p:cNvPr id="3" name="Shape 1"/>
          <p:cNvSpPr/>
          <p:nvPr/>
        </p:nvSpPr>
        <p:spPr>
          <a:xfrm>
            <a:off x="548640" y="1371600"/>
            <a:ext cx="5120640" cy="4206240"/>
          </a:xfrm>
          <a:prstGeom prst="roundRect">
            <a:avLst>
              <a:gd name="adj" fmla="val 2609"/>
            </a:avLst>
          </a:prstGeom>
          <a:solidFill>
            <a:srgbClr val="FDF3E7"/>
          </a:solidFill>
          <a:ln w="9525">
            <a:solidFill>
              <a:srgbClr val="DDE5E0"/>
            </a:solidFill>
            <a:prstDash val="solid"/>
          </a:ln>
        </p:spPr>
      </p:sp>
      <p:sp>
        <p:nvSpPr>
          <p:cNvPr id="4" name="Text 2"/>
          <p:cNvSpPr txBox="1"/>
          <p:nvPr/>
        </p:nvSpPr>
        <p:spPr>
          <a:xfrm>
            <a:off x="822960" y="1508760"/>
            <a:ext cx="4572000" cy="457200"/>
          </a:xfrm>
          <a:prstGeom prst="rect">
            <a:avLst/>
          </a:prstGeom>
          <a:noFill/>
          <a:ln/>
        </p:spPr>
        <p:txBody>
          <a:bodyPr wrap="square" lIns="0" tIns="0" rIns="0" bIns="0" rtlCol="0" anchor="ctr"/>
          <a:lstStyle/>
          <a:p>
            <a:pPr indent="0" marL="0">
              <a:buNone/>
            </a:pPr>
            <a:r>
              <a:rPr lang="en-US" sz="2000" b="1" dirty="0">
                <a:solidFill>
                  <a:schemeClr val="accent2"/>
                </a:solidFill>
              </a:rPr>
              <a:t>What we can claim today</a:t>
            </a:r>
            <a:endParaRPr lang="en-US" sz="2000" dirty="0"/>
          </a:p>
        </p:txBody>
      </p:sp>
      <p:sp>
        <p:nvSpPr>
          <p:cNvPr id="5" name="Text 3"/>
          <p:cNvSpPr txBox="1"/>
          <p:nvPr/>
        </p:nvSpPr>
        <p:spPr>
          <a:xfrm>
            <a:off x="822960" y="2057400"/>
            <a:ext cx="4572000" cy="32918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 working, tested, reproducible product.</a:t>
            </a:r>
            <a:endParaRPr lang="en-US" sz="1600" dirty="0"/>
          </a:p>
          <a:p>
            <a:pPr marL="342900" indent="-342900">
              <a:spcAft>
                <a:spcPts val="800"/>
              </a:spcAft>
              <a:buSzPct val="100000"/>
              <a:buChar char="•"/>
            </a:pPr>
            <a:r>
              <a:rPr lang="en-US" sz="1600" dirty="0">
                <a:solidFill>
                  <a:schemeClr val="tx1"/>
                </a:solidFill>
              </a:rPr>
              <a:t>A measured, significance-tested result on official data.</a:t>
            </a:r>
            <a:endParaRPr lang="en-US" sz="1600" dirty="0"/>
          </a:p>
          <a:p>
            <a:pPr marL="342900" indent="-342900">
              <a:spcAft>
                <a:spcPts val="800"/>
              </a:spcAft>
              <a:buSzPct val="100000"/>
              <a:buChar char="•"/>
            </a:pPr>
            <a:r>
              <a:rPr lang="en-US" sz="1600" dirty="0">
                <a:solidFill>
                  <a:schemeClr val="tx1"/>
                </a:solidFill>
              </a:rPr>
              <a:t>No farmer interviews, user counts, savings or income effects — none have been measured.</a:t>
            </a:r>
            <a:endParaRPr lang="en-US" sz="1600" dirty="0"/>
          </a:p>
        </p:txBody>
      </p:sp>
      <p:sp>
        <p:nvSpPr>
          <p:cNvPr id="6" name="Shape 4"/>
          <p:cNvSpPr/>
          <p:nvPr/>
        </p:nvSpPr>
        <p:spPr>
          <a:xfrm>
            <a:off x="6126480" y="1371600"/>
            <a:ext cx="5513832" cy="4206240"/>
          </a:xfrm>
          <a:prstGeom prst="roundRect">
            <a:avLst>
              <a:gd name="adj" fmla="val 2609"/>
            </a:avLst>
          </a:prstGeom>
          <a:solidFill>
            <a:srgbClr val="F1F5F2"/>
          </a:solidFill>
          <a:ln w="9525">
            <a:solidFill>
              <a:srgbClr val="DDE5E0"/>
            </a:solidFill>
            <a:prstDash val="solid"/>
          </a:ln>
        </p:spPr>
      </p:sp>
      <p:sp>
        <p:nvSpPr>
          <p:cNvPr id="7" name="Text 5"/>
          <p:cNvSpPr txBox="1"/>
          <p:nvPr/>
        </p:nvSpPr>
        <p:spPr>
          <a:xfrm>
            <a:off x="6400800" y="1508760"/>
            <a:ext cx="5029200" cy="457200"/>
          </a:xfrm>
          <a:prstGeom prst="rect">
            <a:avLst/>
          </a:prstGeom>
          <a:noFill/>
          <a:ln/>
        </p:spPr>
        <p:txBody>
          <a:bodyPr wrap="square" lIns="0" tIns="0" rIns="0" bIns="0" rtlCol="0" anchor="ctr"/>
          <a:lstStyle/>
          <a:p>
            <a:pPr indent="0" marL="0">
              <a:buNone/>
            </a:pPr>
            <a:r>
              <a:rPr lang="en-US" sz="2000" b="1" dirty="0">
                <a:solidFill>
                  <a:schemeClr val="accent1"/>
                </a:solidFill>
              </a:rPr>
              <a:t>Next 4 weeks: consented user study</a:t>
            </a:r>
            <a:endParaRPr lang="en-US" sz="2000" dirty="0"/>
          </a:p>
        </p:txBody>
      </p:sp>
      <p:sp>
        <p:nvSpPr>
          <p:cNvPr id="8" name="Text 6"/>
          <p:cNvSpPr txBox="1"/>
          <p:nvPr/>
        </p:nvSpPr>
        <p:spPr>
          <a:xfrm>
            <a:off x="6400800" y="2057400"/>
            <a:ext cx="5029200" cy="32918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5–10 traders and farmers at a Jaipur mandi, with informed consent, no names stored.</a:t>
            </a:r>
            <a:endParaRPr lang="en-US" sz="1600" dirty="0"/>
          </a:p>
          <a:p>
            <a:pPr marL="342900" indent="-342900">
              <a:spcAft>
                <a:spcPts val="800"/>
              </a:spcAft>
              <a:buSzPct val="100000"/>
              <a:buChar char="•"/>
            </a:pPr>
            <a:r>
              <a:rPr lang="en-US" sz="1600" dirty="0">
                <a:solidFill>
                  <a:schemeClr val="tx1"/>
                </a:solidFill>
              </a:rPr>
              <a:t>Measure: can they read the forecast, the reference and the warning correctly?</a:t>
            </a:r>
            <a:endParaRPr lang="en-US" sz="1600" dirty="0"/>
          </a:p>
          <a:p>
            <a:pPr marL="342900" indent="-342900">
              <a:spcAft>
                <a:spcPts val="800"/>
              </a:spcAft>
              <a:buSzPct val="100000"/>
              <a:buChar char="•"/>
            </a:pPr>
            <a:r>
              <a:rPr lang="en-US" sz="1600" dirty="0">
                <a:solidFill>
                  <a:schemeClr val="tx1"/>
                </a:solidFill>
              </a:rPr>
              <a:t>Measure: which screen would change a decision, and how?</a:t>
            </a:r>
            <a:endParaRPr lang="en-US" sz="1600" dirty="0"/>
          </a:p>
          <a:p>
            <a:pPr marL="342900" indent="-342900">
              <a:spcAft>
                <a:spcPts val="800"/>
              </a:spcAft>
              <a:buSzPct val="100000"/>
              <a:buChar char="•"/>
            </a:pPr>
            <a:r>
              <a:rPr lang="en-US" sz="1600" dirty="0">
                <a:solidFill>
                  <a:schemeClr val="tx1"/>
                </a:solidFill>
              </a:rPr>
              <a:t>Publish the anonymised findings — whatever they are.</a:t>
            </a:r>
            <a:endParaRPr lang="en-US" sz="16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Rs. 0 to run, open data, and built to add markets</a:t>
            </a:r>
            <a:endParaRPr lang="en-US" sz="3000" dirty="0"/>
          </a:p>
        </p:txBody>
      </p:sp>
      <p:sp>
        <p:nvSpPr>
          <p:cNvPr id="3" name="Shape 1"/>
          <p:cNvSpPr/>
          <p:nvPr/>
        </p:nvSpPr>
        <p:spPr>
          <a:xfrm>
            <a:off x="548640" y="1371600"/>
            <a:ext cx="5440680" cy="1920240"/>
          </a:xfrm>
          <a:prstGeom prst="roundRect">
            <a:avLst>
              <a:gd name="adj" fmla="val 5714"/>
            </a:avLst>
          </a:prstGeom>
          <a:solidFill>
            <a:srgbClr val="F1F5F2"/>
          </a:solidFill>
          <a:ln w="9525">
            <a:solidFill>
              <a:srgbClr val="DDE5E0"/>
            </a:solidFill>
            <a:prstDash val="solid"/>
          </a:ln>
        </p:spPr>
      </p:sp>
      <p:sp>
        <p:nvSpPr>
          <p:cNvPr id="4" name="Shape 2"/>
          <p:cNvSpPr/>
          <p:nvPr/>
        </p:nvSpPr>
        <p:spPr>
          <a:xfrm>
            <a:off x="822960" y="1691640"/>
            <a:ext cx="502920" cy="502920"/>
          </a:xfrm>
          <a:prstGeom prst="ellipse">
            <a:avLst/>
          </a:prstGeom>
          <a:solidFill>
            <a:srgbClr val="1F6F4A"/>
          </a:solidFill>
          <a:ln/>
        </p:spPr>
      </p:sp>
      <p:sp>
        <p:nvSpPr>
          <p:cNvPr id="5" name="Text 3"/>
          <p:cNvSpPr txBox="1"/>
          <p:nvPr/>
        </p:nvSpPr>
        <p:spPr>
          <a:xfrm>
            <a:off x="1508760" y="1600200"/>
            <a:ext cx="429768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Rs. 0</a:t>
            </a:r>
            <a:endParaRPr lang="en-US" sz="2400" dirty="0"/>
          </a:p>
        </p:txBody>
      </p:sp>
      <p:sp>
        <p:nvSpPr>
          <p:cNvPr id="6" name="Text 4"/>
          <p:cNvSpPr txBox="1"/>
          <p:nvPr/>
        </p:nvSpPr>
        <p:spPr>
          <a:xfrm>
            <a:off x="1508760" y="2240280"/>
            <a:ext cx="4297680" cy="914400"/>
          </a:xfrm>
          <a:prstGeom prst="rect">
            <a:avLst/>
          </a:prstGeom>
          <a:noFill/>
          <a:ln/>
        </p:spPr>
        <p:txBody>
          <a:bodyPr wrap="square" lIns="0" tIns="0" rIns="0" bIns="0" rtlCol="0" anchor="t"/>
          <a:lstStyle/>
          <a:p>
            <a:pPr indent="0" marL="0">
              <a:buNone/>
            </a:pPr>
            <a:r>
              <a:rPr lang="en-US" sz="1500" dirty="0">
                <a:solidFill>
                  <a:schemeClr val="tx1"/>
                </a:solidFill>
              </a:rPr>
              <a:t>GitHub + Actions, Streamlit Community Cloud, data.gov.in. No paid service anywhere.</a:t>
            </a:r>
            <a:endParaRPr lang="en-US" sz="1500" dirty="0"/>
          </a:p>
        </p:txBody>
      </p:sp>
      <p:sp>
        <p:nvSpPr>
          <p:cNvPr id="7" name="Shape 5"/>
          <p:cNvSpPr/>
          <p:nvPr/>
        </p:nvSpPr>
        <p:spPr>
          <a:xfrm>
            <a:off x="6172200" y="1371600"/>
            <a:ext cx="5440680" cy="1920240"/>
          </a:xfrm>
          <a:prstGeom prst="roundRect">
            <a:avLst>
              <a:gd name="adj" fmla="val 5714"/>
            </a:avLst>
          </a:prstGeom>
          <a:solidFill>
            <a:srgbClr val="F1F5F2"/>
          </a:solidFill>
          <a:ln w="9525">
            <a:solidFill>
              <a:srgbClr val="DDE5E0"/>
            </a:solidFill>
            <a:prstDash val="solid"/>
          </a:ln>
        </p:spPr>
      </p:sp>
      <p:sp>
        <p:nvSpPr>
          <p:cNvPr id="8" name="Shape 6"/>
          <p:cNvSpPr/>
          <p:nvPr/>
        </p:nvSpPr>
        <p:spPr>
          <a:xfrm>
            <a:off x="6446520" y="1691640"/>
            <a:ext cx="502920" cy="502920"/>
          </a:xfrm>
          <a:prstGeom prst="ellipse">
            <a:avLst/>
          </a:prstGeom>
          <a:solidFill>
            <a:srgbClr val="3B7DC4"/>
          </a:solidFill>
          <a:ln/>
        </p:spPr>
      </p:sp>
      <p:sp>
        <p:nvSpPr>
          <p:cNvPr id="9" name="Text 7"/>
          <p:cNvSpPr txBox="1"/>
          <p:nvPr/>
        </p:nvSpPr>
        <p:spPr>
          <a:xfrm>
            <a:off x="7132320" y="1600200"/>
            <a:ext cx="429768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GODL-India</a:t>
            </a:r>
            <a:endParaRPr lang="en-US" sz="2400" dirty="0"/>
          </a:p>
        </p:txBody>
      </p:sp>
      <p:sp>
        <p:nvSpPr>
          <p:cNvPr id="10" name="Text 8"/>
          <p:cNvSpPr txBox="1"/>
          <p:nvPr/>
        </p:nvSpPr>
        <p:spPr>
          <a:xfrm>
            <a:off x="7132320" y="2240280"/>
            <a:ext cx="4297680" cy="914400"/>
          </a:xfrm>
          <a:prstGeom prst="rect">
            <a:avLst/>
          </a:prstGeom>
          <a:noFill/>
          <a:ln/>
        </p:spPr>
        <p:txBody>
          <a:bodyPr wrap="square" lIns="0" tIns="0" rIns="0" bIns="0" rtlCol="0" anchor="t"/>
          <a:lstStyle/>
          <a:p>
            <a:pPr indent="0" marL="0">
              <a:buNone/>
            </a:pPr>
            <a:r>
              <a:rPr lang="en-US" sz="1500" dirty="0">
                <a:solidFill>
                  <a:schemeClr val="tx1"/>
                </a:solidFill>
              </a:rPr>
              <a:t>Government open data with attribution; code MIT. Licences kept separate.</a:t>
            </a:r>
            <a:endParaRPr lang="en-US" sz="1500" dirty="0"/>
          </a:p>
        </p:txBody>
      </p:sp>
      <p:sp>
        <p:nvSpPr>
          <p:cNvPr id="11" name="Shape 9"/>
          <p:cNvSpPr/>
          <p:nvPr/>
        </p:nvSpPr>
        <p:spPr>
          <a:xfrm>
            <a:off x="548640" y="3520440"/>
            <a:ext cx="5440680" cy="1920240"/>
          </a:xfrm>
          <a:prstGeom prst="roundRect">
            <a:avLst>
              <a:gd name="adj" fmla="val 5714"/>
            </a:avLst>
          </a:prstGeom>
          <a:solidFill>
            <a:srgbClr val="F1F5F2"/>
          </a:solidFill>
          <a:ln w="9525">
            <a:solidFill>
              <a:srgbClr val="DDE5E0"/>
            </a:solidFill>
            <a:prstDash val="solid"/>
          </a:ln>
        </p:spPr>
      </p:sp>
      <p:sp>
        <p:nvSpPr>
          <p:cNvPr id="12" name="Shape 10"/>
          <p:cNvSpPr/>
          <p:nvPr/>
        </p:nvSpPr>
        <p:spPr>
          <a:xfrm>
            <a:off x="822960" y="3840480"/>
            <a:ext cx="502920" cy="502920"/>
          </a:xfrm>
          <a:prstGeom prst="ellipse">
            <a:avLst/>
          </a:prstGeom>
          <a:solidFill>
            <a:srgbClr val="C27C2C"/>
          </a:solidFill>
          <a:ln/>
        </p:spPr>
      </p:sp>
      <p:sp>
        <p:nvSpPr>
          <p:cNvPr id="13" name="Text 11"/>
          <p:cNvSpPr txBox="1"/>
          <p:nvPr/>
        </p:nvSpPr>
        <p:spPr>
          <a:xfrm>
            <a:off x="1508760" y="3749040"/>
            <a:ext cx="429768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Live-ready</a:t>
            </a:r>
            <a:endParaRPr lang="en-US" sz="2400" dirty="0"/>
          </a:p>
        </p:txBody>
      </p:sp>
      <p:sp>
        <p:nvSpPr>
          <p:cNvPr id="14" name="Text 12"/>
          <p:cNvSpPr txBox="1"/>
          <p:nvPr/>
        </p:nvSpPr>
        <p:spPr>
          <a:xfrm>
            <a:off x="1508760" y="4389120"/>
            <a:ext cx="4297680" cy="914400"/>
          </a:xfrm>
          <a:prstGeom prst="rect">
            <a:avLst/>
          </a:prstGeom>
          <a:noFill/>
          <a:ln/>
        </p:spPr>
        <p:txBody>
          <a:bodyPr wrap="square" lIns="0" tIns="0" rIns="0" bIns="0" rtlCol="0" anchor="t"/>
          <a:lstStyle/>
          <a:p>
            <a:pPr indent="0" marL="0">
              <a:buNone/>
            </a:pPr>
            <a:r>
              <a:rPr lang="en-US" sz="1500" dirty="0">
                <a:solidFill>
                  <a:schemeClr val="tx1"/>
                </a:solidFill>
              </a:rPr>
              <a:t>Validated client for the official AGMARKNET daily price API — waiting only for a free access key.</a:t>
            </a:r>
            <a:endParaRPr lang="en-US" sz="1500" dirty="0"/>
          </a:p>
        </p:txBody>
      </p:sp>
      <p:sp>
        <p:nvSpPr>
          <p:cNvPr id="15" name="Shape 13"/>
          <p:cNvSpPr/>
          <p:nvPr/>
        </p:nvSpPr>
        <p:spPr>
          <a:xfrm>
            <a:off x="6172200" y="3520440"/>
            <a:ext cx="5440680" cy="1920240"/>
          </a:xfrm>
          <a:prstGeom prst="roundRect">
            <a:avLst>
              <a:gd name="adj" fmla="val 5714"/>
            </a:avLst>
          </a:prstGeom>
          <a:solidFill>
            <a:srgbClr val="F1F5F2"/>
          </a:solidFill>
          <a:ln w="9525">
            <a:solidFill>
              <a:srgbClr val="DDE5E0"/>
            </a:solidFill>
            <a:prstDash val="solid"/>
          </a:ln>
        </p:spPr>
      </p:sp>
      <p:sp>
        <p:nvSpPr>
          <p:cNvPr id="16" name="Shape 14"/>
          <p:cNvSpPr/>
          <p:nvPr/>
        </p:nvSpPr>
        <p:spPr>
          <a:xfrm>
            <a:off x="6446520" y="3840480"/>
            <a:ext cx="502920" cy="502920"/>
          </a:xfrm>
          <a:prstGeom prst="ellipse">
            <a:avLst/>
          </a:prstGeom>
          <a:solidFill>
            <a:srgbClr val="8E5EA2"/>
          </a:solidFill>
          <a:ln/>
        </p:spPr>
      </p:sp>
      <p:sp>
        <p:nvSpPr>
          <p:cNvPr id="17" name="Text 15"/>
          <p:cNvSpPr txBox="1"/>
          <p:nvPr/>
        </p:nvSpPr>
        <p:spPr>
          <a:xfrm>
            <a:off x="7132320" y="3749040"/>
            <a:ext cx="4297680"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Gate-based</a:t>
            </a:r>
            <a:endParaRPr lang="en-US" sz="2400" dirty="0"/>
          </a:p>
        </p:txBody>
      </p:sp>
      <p:sp>
        <p:nvSpPr>
          <p:cNvPr id="18" name="Text 16"/>
          <p:cNvSpPr txBox="1"/>
          <p:nvPr/>
        </p:nvSpPr>
        <p:spPr>
          <a:xfrm>
            <a:off x="7132320" y="4389120"/>
            <a:ext cx="4297680" cy="914400"/>
          </a:xfrm>
          <a:prstGeom prst="rect">
            <a:avLst/>
          </a:prstGeom>
          <a:noFill/>
          <a:ln/>
        </p:spPr>
        <p:txBody>
          <a:bodyPr wrap="square" lIns="0" tIns="0" rIns="0" bIns="0" rtlCol="0" anchor="t"/>
          <a:lstStyle/>
          <a:p>
            <a:pPr indent="0" marL="0">
              <a:buNone/>
            </a:pPr>
            <a:r>
              <a:rPr lang="en-US" sz="1500" dirty="0">
                <a:solidFill>
                  <a:schemeClr val="tx1"/>
                </a:solidFill>
              </a:rPr>
              <a:t>New market = add its official file. The 400-row gate decides; nothing is forced.</a:t>
            </a:r>
            <a:endParaRPr lang="en-US" sz="15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this does not show yet — and the next milestones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4206240"/>
                <a:gridCol w="6885432"/>
              </a:tblGrid>
              <a:tr h="658368">
                <a:tc>
                  <a:txBody>
                    <a:bodyPr/>
                    <a:lstStyle/>
                    <a:p>
                      <a:pPr indent="0" marL="0">
                        <a:buNone/>
                      </a:pPr>
                      <a:r>
                        <a:rPr lang="en-US" sz="1600" b="1" dirty="0">
                          <a:solidFill>
                            <a:srgbClr val="FFFFFF"/>
                          </a:solidFill>
                        </a:rPr>
                        <a:t>Limitation</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16523A"/>
                    </a:solidFill>
                  </a:tcPr>
                </a:tc>
                <a:tc>
                  <a:txBody>
                    <a:bodyPr/>
                    <a:lstStyle/>
                    <a:p>
                      <a:pPr indent="0" marL="0">
                        <a:buNone/>
                      </a:pPr>
                      <a:r>
                        <a:rPr lang="en-US" sz="1600" b="1" dirty="0">
                          <a:solidFill>
                            <a:srgbClr val="FFFFFF"/>
                          </a:solidFill>
                        </a:rPr>
                        <a:t>Next milestone</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16523A"/>
                    </a:solidFill>
                  </a:tcPr>
                </a:tc>
              </a:tr>
              <a:tr h="658368">
                <a:tc>
                  <a:txBody>
                    <a:bodyPr/>
                    <a:lstStyle/>
                    <a:p>
                      <a:pPr indent="0" marL="0">
                        <a:buNone/>
                      </a:pPr>
                      <a:r>
                        <a:rPr lang="en-US" sz="1600" dirty="0">
                          <a:solidFill>
                            <a:srgbClr val="1D2430"/>
                          </a:solidFill>
                        </a:rPr>
                        <a:t>Data ends April 2015</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dirty="0">
                          <a:solidFill>
                            <a:srgbClr val="1D2430"/>
                          </a:solidFill>
                        </a:rPr>
                        <a:t>Connect the official daily API (key); check a CEDA daily mirror's terms</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D2430"/>
                          </a:solidFill>
                        </a:rPr>
                        <a:t>One mandi, two commodities</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dirty="0">
                          <a:solidFill>
                            <a:srgbClr val="1D2430"/>
                          </a:solidFill>
                        </a:rPr>
                        <a:t>Run more Rajasthan and national centres through the gate</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D2430"/>
                          </a:solidFill>
                        </a:rPr>
                        <a:t>Price history only</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dirty="0">
                          <a:solidFill>
                            <a:srgbClr val="1D2430"/>
                          </a:solidFill>
                        </a:rPr>
                        <a:t>Add arrivals and rainfall — where a real edge is more plausible</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D2430"/>
                          </a:solidFill>
                        </a:rPr>
                        <a:t>Back-test only</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dirty="0">
                          <a:solidFill>
                            <a:srgbClr val="1D2430"/>
                          </a:solidFill>
                        </a:rPr>
                        <a:t>Score live forecasts against prices published afterwards</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D2430"/>
                          </a:solidFill>
                        </a:rPr>
                        <a:t>No user evidence</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c>
                  <a:txBody>
                    <a:bodyPr/>
                    <a:lstStyle/>
                    <a:p>
                      <a:pPr indent="0" marL="0">
                        <a:buNone/>
                      </a:pPr>
                      <a:r>
                        <a:rPr lang="en-US" sz="1600" dirty="0">
                          <a:solidFill>
                            <a:srgbClr val="1D2430"/>
                          </a:solidFill>
                        </a:rPr>
                        <a:t>Consented study with 5–10 traders and farmers</a:t>
                      </a:r>
                      <a:endParaRPr lang="en-US" sz="1600" dirty="0"/>
                    </a:p>
                  </a:txBody>
                  <a:tcPr marL="109728" marR="109728" marT="109728" marB="109728" anchor="ctr">
                    <a:lnL w="9525" cap="flat" cmpd="sng" algn="ctr">
                      <a:solidFill>
                        <a:srgbClr val="DDE5E0"/>
                      </a:solidFill>
                      <a:prstDash val="solid"/>
                      <a:round/>
                      <a:headEnd type="none" w="med" len="med"/>
                      <a:tailEnd type="none" w="med" len="med"/>
                    </a:lnL>
                    <a:lnR w="9525" cap="flat" cmpd="sng" algn="ctr">
                      <a:solidFill>
                        <a:srgbClr val="DDE5E0"/>
                      </a:solidFill>
                      <a:prstDash val="solid"/>
                      <a:round/>
                      <a:headEnd type="none" w="med" len="med"/>
                      <a:tailEnd type="none" w="med" len="med"/>
                    </a:lnR>
                    <a:lnT w="9525" cap="flat" cmpd="sng" algn="ctr">
                      <a:solidFill>
                        <a:srgbClr val="DDE5E0"/>
                      </a:solidFill>
                      <a:prstDash val="solid"/>
                      <a:round/>
                      <a:headEnd type="none" w="med" len="med"/>
                      <a:tailEnd type="none" w="med" len="med"/>
                    </a:lnT>
                    <a:lnB w="9525" cap="flat" cmpd="sng" algn="ctr">
                      <a:solidFill>
                        <a:srgbClr val="DDE5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28016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Trust before prediction</a:t>
            </a:r>
            <a:endParaRPr lang="en-US" sz="5400" dirty="0"/>
          </a:p>
        </p:txBody>
      </p:sp>
      <p:sp>
        <p:nvSpPr>
          <p:cNvPr id="3" name="Text 0"/>
          <p:cNvSpPr/>
          <p:nvPr>
            <p:ph idx="101" type="body" hasCustomPrompt="1"/>
          </p:nvPr>
        </p:nvSpPr>
        <p:spPr>
          <a:xfrm>
            <a:off x="548640" y="3383280"/>
            <a:ext cx="7498080" cy="1828800"/>
          </a:xfrm>
          <a:prstGeom prst="rect">
            <a:avLst/>
          </a:prstGeom>
          <a:noFill/>
          <a:ln/>
        </p:spPr>
        <p:txBody>
          <a:bodyPr wrap="square" rtlCol="0" anchor="t"/>
          <a:lstStyle/>
          <a:p>
            <a:pPr algn="l" indent="0" marL="0">
              <a:buNone/>
            </a:pPr>
            <a:r>
              <a:rPr lang="en-US" sz="2000" b="1" dirty="0">
                <a:solidFill>
                  <a:srgbClr val="D9E8DF"/>
                </a:solidFill>
              </a:rPr>
              <a:t>We ask for:</a:t>
            </a:r>
            <a:endParaRPr lang="en-US" sz="2000" dirty="0"/>
          </a:p>
          <a:p>
            <a:pPr algn="l" marL="342900" indent="-342900">
              <a:buSzPct val="100000"/>
              <a:buChar char="•"/>
            </a:pPr>
            <a:r>
              <a:rPr lang="en-US" sz="2000" dirty="0">
                <a:solidFill>
                  <a:srgbClr val="D9E8DF"/>
                </a:solidFill>
              </a:rPr>
              <a:t>Mentors in agricultural economics and forecasting</a:t>
            </a:r>
            <a:endParaRPr lang="en-US" sz="2000" dirty="0"/>
          </a:p>
          <a:p>
            <a:pPr algn="l" marL="342900" indent="-342900">
              <a:buSzPct val="100000"/>
              <a:buChar char="•"/>
            </a:pPr>
            <a:r>
              <a:rPr lang="en-US" sz="2000" dirty="0">
                <a:solidFill>
                  <a:srgbClr val="D9E8DF"/>
                </a:solidFill>
              </a:rPr>
              <a:t>Introductions to a mandi committee or FPO for a consented pilot</a:t>
            </a:r>
            <a:endParaRPr lang="en-US" sz="2000" dirty="0"/>
          </a:p>
          <a:p>
            <a:pPr algn="l" marL="342900" indent="-342900">
              <a:buSzPct val="100000"/>
              <a:buChar char="•"/>
            </a:pPr>
            <a:r>
              <a:rPr lang="en-US" sz="2000" dirty="0">
                <a:solidFill>
                  <a:srgbClr val="D9E8DF"/>
                </a:solidFill>
              </a:rPr>
              <a:t>Feedback on what traders would actually use</a:t>
            </a:r>
            <a:endParaRPr lang="en-US" sz="2000" dirty="0"/>
          </a:p>
        </p:txBody>
      </p:sp>
      <p:sp>
        <p:nvSpPr>
          <p:cNvPr id="4" name="Shape 2"/>
          <p:cNvSpPr/>
          <p:nvPr/>
        </p:nvSpPr>
        <p:spPr>
          <a:xfrm>
            <a:off x="8823960" y="2148840"/>
            <a:ext cx="1463040" cy="1965960"/>
          </a:xfrm>
          <a:prstGeom prst="roundRect">
            <a:avLst>
              <a:gd name="adj" fmla="val 6250"/>
            </a:avLst>
          </a:prstGeom>
          <a:solidFill>
            <a:srgbClr val="FFFFFF"/>
          </a:solidFill>
          <a:ln w="12700">
            <a:solidFill>
              <a:srgbClr val="FFFFFF"/>
            </a:solidFill>
            <a:prstDash val="solid"/>
          </a:ln>
        </p:spPr>
      </p:sp>
      <p:pic>
        <p:nvPicPr>
          <p:cNvPr id="5" name="Image 0" descr="QR code: Live app">    </p:cNvPr>
          <p:cNvPicPr>
            <a:picLocks noChangeAspect="1"/>
          </p:cNvPicPr>
          <p:nvPr/>
        </p:nvPicPr>
        <p:blipFill>
          <a:blip r:embed="rId1"/>
          <a:stretch>
            <a:fillRect/>
          </a:stretch>
        </p:blipFill>
        <p:spPr>
          <a:xfrm>
            <a:off x="8915400" y="2240280"/>
            <a:ext cx="1280160" cy="1280160"/>
          </a:xfrm>
          <a:prstGeom prst="rect">
            <a:avLst/>
          </a:prstGeom>
        </p:spPr>
      </p:pic>
      <p:sp>
        <p:nvSpPr>
          <p:cNvPr id="6" name="Text 3"/>
          <p:cNvSpPr txBox="1"/>
          <p:nvPr/>
        </p:nvSpPr>
        <p:spPr>
          <a:xfrm>
            <a:off x="8823960" y="3566160"/>
            <a:ext cx="1463040" cy="411480"/>
          </a:xfrm>
          <a:prstGeom prst="rect">
            <a:avLst/>
          </a:prstGeom>
          <a:noFill/>
          <a:ln/>
        </p:spPr>
        <p:txBody>
          <a:bodyPr wrap="square" lIns="0" tIns="0" rIns="0" bIns="0" rtlCol="0" anchor="ctr"/>
          <a:lstStyle/>
          <a:p>
            <a:pPr algn="ctr" indent="0" marL="0">
              <a:buNone/>
            </a:pPr>
            <a:r>
              <a:rPr lang="en-US" sz="1300" b="1" dirty="0">
                <a:solidFill>
                  <a:schemeClr val="tx1"/>
                </a:solidFill>
              </a:rPr>
              <a:t>Live app</a:t>
            </a:r>
            <a:endParaRPr lang="en-US" sz="1300" dirty="0"/>
          </a:p>
        </p:txBody>
      </p:sp>
      <p:sp>
        <p:nvSpPr>
          <p:cNvPr id="7" name="Shape 4"/>
          <p:cNvSpPr/>
          <p:nvPr/>
        </p:nvSpPr>
        <p:spPr>
          <a:xfrm>
            <a:off x="10424160" y="2148840"/>
            <a:ext cx="1463040" cy="1965960"/>
          </a:xfrm>
          <a:prstGeom prst="roundRect">
            <a:avLst>
              <a:gd name="adj" fmla="val 6250"/>
            </a:avLst>
          </a:prstGeom>
          <a:solidFill>
            <a:srgbClr val="FFFFFF"/>
          </a:solidFill>
          <a:ln w="12700">
            <a:solidFill>
              <a:srgbClr val="FFFFFF"/>
            </a:solidFill>
            <a:prstDash val="solid"/>
          </a:ln>
        </p:spPr>
      </p:sp>
      <p:pic>
        <p:nvPicPr>
          <p:cNvPr id="8" name="Image 1" descr="QR code: Code + data">    </p:cNvPr>
          <p:cNvPicPr>
            <a:picLocks noChangeAspect="1"/>
          </p:cNvPicPr>
          <p:nvPr/>
        </p:nvPicPr>
        <p:blipFill>
          <a:blip r:embed="rId2"/>
          <a:stretch>
            <a:fillRect/>
          </a:stretch>
        </p:blipFill>
        <p:spPr>
          <a:xfrm>
            <a:off x="10515600" y="2240280"/>
            <a:ext cx="1280160" cy="1280160"/>
          </a:xfrm>
          <a:prstGeom prst="rect">
            <a:avLst/>
          </a:prstGeom>
        </p:spPr>
      </p:pic>
      <p:sp>
        <p:nvSpPr>
          <p:cNvPr id="9" name="Text 5"/>
          <p:cNvSpPr txBox="1"/>
          <p:nvPr/>
        </p:nvSpPr>
        <p:spPr>
          <a:xfrm>
            <a:off x="10424160" y="3566160"/>
            <a:ext cx="1463040" cy="411480"/>
          </a:xfrm>
          <a:prstGeom prst="rect">
            <a:avLst/>
          </a:prstGeom>
          <a:noFill/>
          <a:ln/>
        </p:spPr>
        <p:txBody>
          <a:bodyPr wrap="square" lIns="0" tIns="0" rIns="0" bIns="0" rtlCol="0" anchor="ctr"/>
          <a:lstStyle/>
          <a:p>
            <a:pPr algn="ctr" indent="0" marL="0">
              <a:buNone/>
            </a:pPr>
            <a:r>
              <a:rPr lang="en-US" sz="1300" b="1" dirty="0">
                <a:solidFill>
                  <a:schemeClr val="tx1"/>
                </a:solidFill>
              </a:rPr>
              <a:t>Code + data</a:t>
            </a:r>
            <a:endParaRPr lang="en-US" sz="1300" dirty="0"/>
          </a:p>
        </p:txBody>
      </p:sp>
      <p:sp>
        <p:nvSpPr>
          <p:cNvPr id="10" name="Text 6"/>
          <p:cNvSpPr txBox="1"/>
          <p:nvPr/>
        </p:nvSpPr>
        <p:spPr>
          <a:xfrm>
            <a:off x="548640" y="5852160"/>
            <a:ext cx="7315200" cy="365760"/>
          </a:xfrm>
          <a:prstGeom prst="rect">
            <a:avLst/>
          </a:prstGeom>
          <a:noFill/>
          <a:ln/>
        </p:spPr>
        <p:txBody>
          <a:bodyPr wrap="square" rtlCol="0" anchor="ctr"/>
          <a:lstStyle/>
          <a:p>
            <a:pPr indent="0" marL="0">
              <a:buNone/>
            </a:pPr>
            <a:r>
              <a:rPr lang="en-US" sz="1400" dirty="0">
                <a:solidFill>
                  <a:srgbClr val="D9E8DF"/>
                </a:solidFill>
              </a:rPr>
              <a:t>Vishnu Keer · Vivekananda Global University, Jaipur</a:t>
            </a:r>
            <a:endParaRPr lang="en-US" sz="1400" dirty="0"/>
          </a:p>
        </p:txBody>
      </p:sp>
    </p:spTree>
  </p:cSld>
  <p:clrMapOvr>
    <a:masterClrMapping/>
  </p:clrMapOvr>
</p:sld>
</file>

<file path=ppt/theme/theme1.xml><?xml version="1.0" encoding="utf-8"?>
<a:theme xmlns:a="http://schemas.openxmlformats.org/drawingml/2006/main" name="MandiMitra Field">
  <a:themeElements>
    <a:clrScheme name="MandiMitra Field">
      <a:dk1>
        <a:srgbClr val="1D2430"/>
      </a:dk1>
      <a:lt1>
        <a:srgbClr val="FFFFFF"/>
      </a:lt1>
      <a:dk2>
        <a:srgbClr val="16523A"/>
      </a:dk2>
      <a:lt2>
        <a:srgbClr val="F1F5F2"/>
      </a:lt2>
      <a:accent1>
        <a:srgbClr val="1F6F4A"/>
      </a:accent1>
      <a:accent2>
        <a:srgbClr val="C27C2C"/>
      </a:accent2>
      <a:accent3>
        <a:srgbClr val="5B6472"/>
      </a:accent3>
      <a:accent4>
        <a:srgbClr val="3B7DC4"/>
      </a:accent4>
      <a:accent5>
        <a:srgbClr val="8E5EA2"/>
      </a:accent5>
      <a:accent6>
        <a:srgbClr val="D1495B"/>
      </a:accent6>
      <a:hlink>
        <a:srgbClr val="1F6F4A"/>
      </a:hlink>
      <a:folHlink>
        <a:srgbClr val="16523A"/>
      </a:folHlink>
    </a:clrScheme>
    <a:fontScheme name="MandiMitra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Vivekananda Global University, Jaipur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MandiMitra — Hackathon pitch</dc:title>
  <dc:subject>PptxGenJS Presentation</dc:subject>
  <dc:creator>Vishnu Keer</dc:creator>
  <cp:lastModifiedBy>Vishnu Keer</cp:lastModifiedBy>
  <cp:revision>1</cp:revision>
  <dcterms:created xsi:type="dcterms:W3CDTF">2026-10-28T13:09:37Z</dcterms:created>
  <dcterms:modified xsi:type="dcterms:W3CDTF">2026-10-28T13:09:37Z</dcterms:modified>
</cp:coreProperties>
</file>